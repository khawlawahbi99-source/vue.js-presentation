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8288000" cy="10287000"/>
  <p:notesSz cx="6858000" cy="9144000"/>
  <p:embeddedFontLst>
    <p:embeddedFont>
      <p:font typeface="Arial MT Pro" panose="020B0604020202020204" charset="0"/>
      <p:regular r:id="rId59"/>
    </p:embeddedFont>
    <p:embeddedFont>
      <p:font typeface="Arimo" panose="020B0604020202020204" charset="0"/>
      <p:regular r:id="rId60"/>
    </p:embeddedFont>
    <p:embeddedFont>
      <p:font typeface="Arimo Bold" panose="020B0604020202020204" charset="0"/>
      <p:regular r:id="rId61"/>
    </p:embeddedFon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Glacial Indifference" panose="020B0604020202020204" charset="0"/>
      <p:regular r:id="rId66"/>
    </p:embeddedFont>
    <p:embeddedFont>
      <p:font typeface="Quicksand Bold" panose="020B0604020202020204" charset="0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42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70835" y="725649"/>
            <a:ext cx="11668350" cy="236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7"/>
              </a:lnSpc>
            </a:pPr>
            <a:r>
              <a:rPr lang="en-US" sz="125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Vue JS</a:t>
            </a:r>
          </a:p>
        </p:txBody>
      </p:sp>
      <p:sp>
        <p:nvSpPr>
          <p:cNvPr id="3" name="Freeform 3"/>
          <p:cNvSpPr/>
          <p:nvPr/>
        </p:nvSpPr>
        <p:spPr>
          <a:xfrm>
            <a:off x="5512684" y="2883362"/>
            <a:ext cx="6784653" cy="5639192"/>
          </a:xfrm>
          <a:custGeom>
            <a:avLst/>
            <a:gdLst/>
            <a:ahLst/>
            <a:cxnLst/>
            <a:rect l="l" t="t" r="r" b="b"/>
            <a:pathLst>
              <a:path w="6784653" h="5639192">
                <a:moveTo>
                  <a:pt x="0" y="0"/>
                </a:moveTo>
                <a:lnTo>
                  <a:pt x="6784653" y="0"/>
                </a:lnTo>
                <a:lnTo>
                  <a:pt x="6784653" y="5639192"/>
                </a:lnTo>
                <a:lnTo>
                  <a:pt x="0" y="5639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98" t="-21844" r="-7644" b="-1825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2644" y="7283196"/>
            <a:ext cx="4624074" cy="242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4"/>
              </a:lnSpc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Réalisé par:</a:t>
            </a:r>
          </a:p>
          <a:p>
            <a:pPr algn="l">
              <a:lnSpc>
                <a:spcPts val="3844"/>
              </a:lnSpc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Amazouz Hassna</a:t>
            </a:r>
          </a:p>
          <a:p>
            <a:pPr algn="l">
              <a:lnSpc>
                <a:spcPts val="3844"/>
              </a:lnSpc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Wahbi Khawla</a:t>
            </a:r>
          </a:p>
          <a:p>
            <a:pPr algn="l">
              <a:lnSpc>
                <a:spcPts val="3844"/>
              </a:lnSpc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Manyani Soumia</a:t>
            </a:r>
          </a:p>
          <a:p>
            <a:pPr algn="l">
              <a:lnSpc>
                <a:spcPts val="3844"/>
              </a:lnSpc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Ridani Oumayma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3276" y="8747379"/>
            <a:ext cx="3966210" cy="96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Sous l’encadrement de :</a:t>
            </a:r>
          </a:p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Pr. Mohammed CHERRADI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497606" y="1096271"/>
            <a:ext cx="392473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2176" y="2726042"/>
            <a:ext cx="48995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Fondamentaux Vue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72224" y="3383580"/>
            <a:ext cx="3823950" cy="84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Setup, Directives, événements, méthodes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8219" y="3996447"/>
            <a:ext cx="528731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Forms+Data Binding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44435" y="4736981"/>
            <a:ext cx="3823950" cy="84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Form Inputs, CSS Binding, Watchers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01511" y="6888642"/>
            <a:ext cx="306512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Avancé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42688" y="7631364"/>
            <a:ext cx="3823950" cy="84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Lifecycle Hooks, Routing, Composition API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661525" y="2589305"/>
            <a:ext cx="773700" cy="806425"/>
            <a:chOff x="0" y="0"/>
            <a:chExt cx="1031600" cy="10752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1621" cy="1075269"/>
            </a:xfrm>
            <a:custGeom>
              <a:avLst/>
              <a:gdLst/>
              <a:ahLst/>
              <a:cxnLst/>
              <a:rect l="l" t="t" r="r" b="b"/>
              <a:pathLst>
                <a:path w="1031621" h="1075269">
                  <a:moveTo>
                    <a:pt x="0" y="537564"/>
                  </a:moveTo>
                  <a:cubicBezTo>
                    <a:pt x="0" y="238143"/>
                    <a:pt x="233299" y="0"/>
                    <a:pt x="515747" y="0"/>
                  </a:cubicBezTo>
                  <a:lnTo>
                    <a:pt x="515747" y="29042"/>
                  </a:lnTo>
                  <a:lnTo>
                    <a:pt x="515747" y="58084"/>
                  </a:lnTo>
                  <a:lnTo>
                    <a:pt x="515747" y="29042"/>
                  </a:lnTo>
                  <a:lnTo>
                    <a:pt x="515747" y="0"/>
                  </a:lnTo>
                  <a:cubicBezTo>
                    <a:pt x="798322" y="0"/>
                    <a:pt x="1031621" y="238143"/>
                    <a:pt x="1031621" y="537564"/>
                  </a:cubicBezTo>
                  <a:cubicBezTo>
                    <a:pt x="1031621" y="836985"/>
                    <a:pt x="798322" y="1075269"/>
                    <a:pt x="515747" y="1075269"/>
                  </a:cubicBezTo>
                  <a:lnTo>
                    <a:pt x="515747" y="1046232"/>
                  </a:lnTo>
                  <a:lnTo>
                    <a:pt x="515747" y="1075269"/>
                  </a:lnTo>
                  <a:cubicBezTo>
                    <a:pt x="233299" y="1075269"/>
                    <a:pt x="0" y="837131"/>
                    <a:pt x="0" y="537564"/>
                  </a:cubicBezTo>
                  <a:lnTo>
                    <a:pt x="25400" y="537564"/>
                  </a:lnTo>
                  <a:lnTo>
                    <a:pt x="50800" y="537564"/>
                  </a:lnTo>
                  <a:lnTo>
                    <a:pt x="25400" y="537564"/>
                  </a:lnTo>
                  <a:lnTo>
                    <a:pt x="0" y="537564"/>
                  </a:lnTo>
                  <a:moveTo>
                    <a:pt x="50800" y="537564"/>
                  </a:moveTo>
                  <a:cubicBezTo>
                    <a:pt x="50800" y="553537"/>
                    <a:pt x="39370" y="566606"/>
                    <a:pt x="25400" y="566606"/>
                  </a:cubicBezTo>
                  <a:cubicBezTo>
                    <a:pt x="11430" y="566606"/>
                    <a:pt x="0" y="553537"/>
                    <a:pt x="0" y="537564"/>
                  </a:cubicBezTo>
                  <a:cubicBezTo>
                    <a:pt x="0" y="521591"/>
                    <a:pt x="11430" y="508522"/>
                    <a:pt x="25400" y="508522"/>
                  </a:cubicBezTo>
                  <a:cubicBezTo>
                    <a:pt x="39370" y="508522"/>
                    <a:pt x="50800" y="521591"/>
                    <a:pt x="50800" y="537564"/>
                  </a:cubicBezTo>
                  <a:cubicBezTo>
                    <a:pt x="50800" y="799812"/>
                    <a:pt x="256540" y="1017190"/>
                    <a:pt x="515747" y="1017190"/>
                  </a:cubicBezTo>
                  <a:cubicBezTo>
                    <a:pt x="774954" y="1017190"/>
                    <a:pt x="980821" y="799812"/>
                    <a:pt x="980821" y="537564"/>
                  </a:cubicBezTo>
                  <a:lnTo>
                    <a:pt x="1006221" y="537564"/>
                  </a:lnTo>
                  <a:lnTo>
                    <a:pt x="980821" y="537564"/>
                  </a:lnTo>
                  <a:cubicBezTo>
                    <a:pt x="980821" y="275317"/>
                    <a:pt x="774954" y="58084"/>
                    <a:pt x="515747" y="58084"/>
                  </a:cubicBezTo>
                  <a:cubicBezTo>
                    <a:pt x="501777" y="58084"/>
                    <a:pt x="490347" y="45015"/>
                    <a:pt x="490347" y="29042"/>
                  </a:cubicBezTo>
                  <a:cubicBezTo>
                    <a:pt x="490347" y="13069"/>
                    <a:pt x="501777" y="0"/>
                    <a:pt x="515747" y="0"/>
                  </a:cubicBezTo>
                  <a:cubicBezTo>
                    <a:pt x="529717" y="0"/>
                    <a:pt x="541147" y="13069"/>
                    <a:pt x="541147" y="29042"/>
                  </a:cubicBezTo>
                  <a:cubicBezTo>
                    <a:pt x="541147" y="45015"/>
                    <a:pt x="529717" y="58084"/>
                    <a:pt x="515747" y="58084"/>
                  </a:cubicBezTo>
                  <a:cubicBezTo>
                    <a:pt x="256540" y="58084"/>
                    <a:pt x="50800" y="275317"/>
                    <a:pt x="50800" y="5375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031600" cy="1103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15409" y="3928685"/>
            <a:ext cx="773700" cy="806425"/>
            <a:chOff x="0" y="0"/>
            <a:chExt cx="1031600" cy="10752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1621" cy="1075123"/>
            </a:xfrm>
            <a:custGeom>
              <a:avLst/>
              <a:gdLst/>
              <a:ahLst/>
              <a:cxnLst/>
              <a:rect l="l" t="t" r="r" b="b"/>
              <a:pathLst>
                <a:path w="1031621" h="1075123">
                  <a:moveTo>
                    <a:pt x="0" y="537562"/>
                  </a:moveTo>
                  <a:cubicBezTo>
                    <a:pt x="0" y="240652"/>
                    <a:pt x="230886" y="0"/>
                    <a:pt x="515747" y="0"/>
                  </a:cubicBezTo>
                  <a:lnTo>
                    <a:pt x="515747" y="26474"/>
                  </a:lnTo>
                  <a:lnTo>
                    <a:pt x="515747" y="0"/>
                  </a:lnTo>
                  <a:cubicBezTo>
                    <a:pt x="800608" y="0"/>
                    <a:pt x="1031621" y="240652"/>
                    <a:pt x="1031621" y="537562"/>
                  </a:cubicBezTo>
                  <a:lnTo>
                    <a:pt x="1006221" y="537562"/>
                  </a:lnTo>
                  <a:lnTo>
                    <a:pt x="1031621" y="537562"/>
                  </a:lnTo>
                  <a:cubicBezTo>
                    <a:pt x="1031621" y="834471"/>
                    <a:pt x="800735" y="1075123"/>
                    <a:pt x="515874" y="1075123"/>
                  </a:cubicBezTo>
                  <a:lnTo>
                    <a:pt x="515874" y="1048649"/>
                  </a:lnTo>
                  <a:lnTo>
                    <a:pt x="515874" y="1075123"/>
                  </a:lnTo>
                  <a:cubicBezTo>
                    <a:pt x="230886" y="1075255"/>
                    <a:pt x="0" y="834471"/>
                    <a:pt x="0" y="537562"/>
                  </a:cubicBezTo>
                  <a:lnTo>
                    <a:pt x="25400" y="537562"/>
                  </a:lnTo>
                  <a:lnTo>
                    <a:pt x="50800" y="537562"/>
                  </a:lnTo>
                  <a:lnTo>
                    <a:pt x="25400" y="537562"/>
                  </a:lnTo>
                  <a:lnTo>
                    <a:pt x="0" y="537562"/>
                  </a:lnTo>
                  <a:moveTo>
                    <a:pt x="50800" y="537562"/>
                  </a:moveTo>
                  <a:cubicBezTo>
                    <a:pt x="50800" y="552122"/>
                    <a:pt x="39370" y="564036"/>
                    <a:pt x="25400" y="564036"/>
                  </a:cubicBezTo>
                  <a:cubicBezTo>
                    <a:pt x="11430" y="564036"/>
                    <a:pt x="0" y="552122"/>
                    <a:pt x="0" y="537562"/>
                  </a:cubicBezTo>
                  <a:cubicBezTo>
                    <a:pt x="0" y="523001"/>
                    <a:pt x="11430" y="511087"/>
                    <a:pt x="25400" y="511087"/>
                  </a:cubicBezTo>
                  <a:cubicBezTo>
                    <a:pt x="39370" y="511087"/>
                    <a:pt x="50800" y="523001"/>
                    <a:pt x="50800" y="537562"/>
                  </a:cubicBezTo>
                  <a:cubicBezTo>
                    <a:pt x="50800" y="805350"/>
                    <a:pt x="258953" y="1022307"/>
                    <a:pt x="515747" y="1022307"/>
                  </a:cubicBezTo>
                  <a:cubicBezTo>
                    <a:pt x="772541" y="1022307"/>
                    <a:pt x="980821" y="805350"/>
                    <a:pt x="980821" y="537562"/>
                  </a:cubicBezTo>
                  <a:cubicBezTo>
                    <a:pt x="980821" y="269774"/>
                    <a:pt x="772668" y="52949"/>
                    <a:pt x="515747" y="52949"/>
                  </a:cubicBezTo>
                  <a:lnTo>
                    <a:pt x="515747" y="26474"/>
                  </a:lnTo>
                  <a:lnTo>
                    <a:pt x="515747" y="52949"/>
                  </a:lnTo>
                  <a:cubicBezTo>
                    <a:pt x="258953" y="52949"/>
                    <a:pt x="50800" y="269906"/>
                    <a:pt x="50800" y="5375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31600" cy="1103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631800" y="5577467"/>
            <a:ext cx="773700" cy="806425"/>
            <a:chOff x="0" y="0"/>
            <a:chExt cx="1031600" cy="10752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1621" cy="1075123"/>
            </a:xfrm>
            <a:custGeom>
              <a:avLst/>
              <a:gdLst/>
              <a:ahLst/>
              <a:cxnLst/>
              <a:rect l="l" t="t" r="r" b="b"/>
              <a:pathLst>
                <a:path w="1031621" h="1075123">
                  <a:moveTo>
                    <a:pt x="0" y="537562"/>
                  </a:moveTo>
                  <a:cubicBezTo>
                    <a:pt x="0" y="240652"/>
                    <a:pt x="230886" y="0"/>
                    <a:pt x="515747" y="0"/>
                  </a:cubicBezTo>
                  <a:lnTo>
                    <a:pt x="515747" y="26474"/>
                  </a:lnTo>
                  <a:lnTo>
                    <a:pt x="515747" y="0"/>
                  </a:lnTo>
                  <a:cubicBezTo>
                    <a:pt x="800608" y="0"/>
                    <a:pt x="1031621" y="240652"/>
                    <a:pt x="1031621" y="537562"/>
                  </a:cubicBezTo>
                  <a:lnTo>
                    <a:pt x="1006221" y="537562"/>
                  </a:lnTo>
                  <a:lnTo>
                    <a:pt x="1031621" y="537562"/>
                  </a:lnTo>
                  <a:cubicBezTo>
                    <a:pt x="1031621" y="834471"/>
                    <a:pt x="800735" y="1075123"/>
                    <a:pt x="515874" y="1075123"/>
                  </a:cubicBezTo>
                  <a:lnTo>
                    <a:pt x="515874" y="1048649"/>
                  </a:lnTo>
                  <a:lnTo>
                    <a:pt x="515874" y="1075123"/>
                  </a:lnTo>
                  <a:cubicBezTo>
                    <a:pt x="230886" y="1075255"/>
                    <a:pt x="0" y="834471"/>
                    <a:pt x="0" y="537562"/>
                  </a:cubicBezTo>
                  <a:lnTo>
                    <a:pt x="25400" y="537562"/>
                  </a:lnTo>
                  <a:lnTo>
                    <a:pt x="50800" y="537562"/>
                  </a:lnTo>
                  <a:lnTo>
                    <a:pt x="25400" y="537562"/>
                  </a:lnTo>
                  <a:lnTo>
                    <a:pt x="0" y="537562"/>
                  </a:lnTo>
                  <a:moveTo>
                    <a:pt x="50800" y="537562"/>
                  </a:moveTo>
                  <a:cubicBezTo>
                    <a:pt x="50800" y="552122"/>
                    <a:pt x="39370" y="564036"/>
                    <a:pt x="25400" y="564036"/>
                  </a:cubicBezTo>
                  <a:cubicBezTo>
                    <a:pt x="11430" y="564036"/>
                    <a:pt x="0" y="552122"/>
                    <a:pt x="0" y="537562"/>
                  </a:cubicBezTo>
                  <a:cubicBezTo>
                    <a:pt x="0" y="523001"/>
                    <a:pt x="11430" y="511087"/>
                    <a:pt x="25400" y="511087"/>
                  </a:cubicBezTo>
                  <a:cubicBezTo>
                    <a:pt x="39370" y="511087"/>
                    <a:pt x="50800" y="523001"/>
                    <a:pt x="50800" y="537562"/>
                  </a:cubicBezTo>
                  <a:cubicBezTo>
                    <a:pt x="50800" y="805350"/>
                    <a:pt x="258953" y="1022307"/>
                    <a:pt x="515747" y="1022307"/>
                  </a:cubicBezTo>
                  <a:cubicBezTo>
                    <a:pt x="772541" y="1022307"/>
                    <a:pt x="980821" y="805350"/>
                    <a:pt x="980821" y="537562"/>
                  </a:cubicBezTo>
                  <a:cubicBezTo>
                    <a:pt x="980821" y="269774"/>
                    <a:pt x="772668" y="52949"/>
                    <a:pt x="515747" y="52949"/>
                  </a:cubicBezTo>
                  <a:lnTo>
                    <a:pt x="515747" y="26474"/>
                  </a:lnTo>
                  <a:lnTo>
                    <a:pt x="515747" y="52949"/>
                  </a:lnTo>
                  <a:cubicBezTo>
                    <a:pt x="258953" y="52949"/>
                    <a:pt x="50800" y="269906"/>
                    <a:pt x="50800" y="5375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031600" cy="1103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96371" y="5558417"/>
            <a:ext cx="4375655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Composants et communication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‹2›</a:t>
            </a:r>
          </a:p>
        </p:txBody>
      </p:sp>
      <p:sp>
        <p:nvSpPr>
          <p:cNvPr id="28" name="AutoShape 28"/>
          <p:cNvSpPr/>
          <p:nvPr/>
        </p:nvSpPr>
        <p:spPr>
          <a:xfrm flipH="1">
            <a:off x="9132075" y="2992517"/>
            <a:ext cx="152945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9" name="AutoShape 29"/>
          <p:cNvSpPr/>
          <p:nvPr/>
        </p:nvSpPr>
        <p:spPr>
          <a:xfrm>
            <a:off x="7151025" y="4315535"/>
            <a:ext cx="2078684" cy="1905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30" name="Freeform 30"/>
          <p:cNvSpPr/>
          <p:nvPr/>
        </p:nvSpPr>
        <p:spPr>
          <a:xfrm>
            <a:off x="14022099" y="1646665"/>
            <a:ext cx="640284" cy="785162"/>
          </a:xfrm>
          <a:custGeom>
            <a:avLst/>
            <a:gdLst/>
            <a:ahLst/>
            <a:cxnLst/>
            <a:rect l="l" t="t" r="r" b="b"/>
            <a:pathLst>
              <a:path w="640284" h="785162">
                <a:moveTo>
                  <a:pt x="0" y="0"/>
                </a:moveTo>
                <a:lnTo>
                  <a:pt x="640284" y="0"/>
                </a:lnTo>
                <a:lnTo>
                  <a:pt x="640284" y="785162"/>
                </a:lnTo>
                <a:lnTo>
                  <a:pt x="0" y="785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AutoShape 31"/>
          <p:cNvSpPr/>
          <p:nvPr/>
        </p:nvSpPr>
        <p:spPr>
          <a:xfrm flipH="1" flipV="1">
            <a:off x="9161900" y="5964317"/>
            <a:ext cx="146990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32" name="Freeform 32"/>
          <p:cNvSpPr/>
          <p:nvPr/>
        </p:nvSpPr>
        <p:spPr>
          <a:xfrm>
            <a:off x="2743047" y="2442109"/>
            <a:ext cx="716928" cy="713616"/>
          </a:xfrm>
          <a:custGeom>
            <a:avLst/>
            <a:gdLst/>
            <a:ahLst/>
            <a:cxnLst/>
            <a:rect l="l" t="t" r="r" b="b"/>
            <a:pathLst>
              <a:path w="716928" h="713616">
                <a:moveTo>
                  <a:pt x="0" y="0"/>
                </a:moveTo>
                <a:lnTo>
                  <a:pt x="716928" y="0"/>
                </a:lnTo>
                <a:lnTo>
                  <a:pt x="716928" y="713616"/>
                </a:lnTo>
                <a:lnTo>
                  <a:pt x="0" y="713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6186881" y="8098223"/>
            <a:ext cx="569694" cy="747254"/>
          </a:xfrm>
          <a:custGeom>
            <a:avLst/>
            <a:gdLst/>
            <a:ahLst/>
            <a:cxnLst/>
            <a:rect l="l" t="t" r="r" b="b"/>
            <a:pathLst>
              <a:path w="569694" h="747254">
                <a:moveTo>
                  <a:pt x="0" y="0"/>
                </a:moveTo>
                <a:lnTo>
                  <a:pt x="569694" y="0"/>
                </a:lnTo>
                <a:lnTo>
                  <a:pt x="569694" y="747254"/>
                </a:lnTo>
                <a:lnTo>
                  <a:pt x="0" y="74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4" name="AutoShape 34"/>
          <p:cNvSpPr/>
          <p:nvPr/>
        </p:nvSpPr>
        <p:spPr>
          <a:xfrm>
            <a:off x="9144000" y="2442109"/>
            <a:ext cx="47625" cy="6403368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35" name="Group 35"/>
          <p:cNvGrpSpPr/>
          <p:nvPr/>
        </p:nvGrpSpPr>
        <p:grpSpPr>
          <a:xfrm>
            <a:off x="6317688" y="6754245"/>
            <a:ext cx="2872984" cy="753522"/>
            <a:chOff x="0" y="0"/>
            <a:chExt cx="3830646" cy="1004697"/>
          </a:xfrm>
        </p:grpSpPr>
        <p:sp>
          <p:nvSpPr>
            <p:cNvPr id="36" name="AutoShape 36"/>
            <p:cNvSpPr/>
            <p:nvPr/>
          </p:nvSpPr>
          <p:spPr>
            <a:xfrm flipH="1" flipV="1">
              <a:off x="1086828" y="502348"/>
              <a:ext cx="2743818" cy="0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oval" w="lg" len="lg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0" y="0"/>
              <a:ext cx="1122180" cy="1004697"/>
              <a:chOff x="0" y="0"/>
              <a:chExt cx="1800051" cy="1611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800081" cy="1611630"/>
              </a:xfrm>
              <a:custGeom>
                <a:avLst/>
                <a:gdLst/>
                <a:ahLst/>
                <a:cxnLst/>
                <a:rect l="l" t="t" r="r" b="b"/>
                <a:pathLst>
                  <a:path w="1800081" h="1611630">
                    <a:moveTo>
                      <a:pt x="0" y="805815"/>
                    </a:moveTo>
                    <a:cubicBezTo>
                      <a:pt x="0" y="360807"/>
                      <a:pt x="402998" y="0"/>
                      <a:pt x="900042" y="0"/>
                    </a:cubicBezTo>
                    <a:lnTo>
                      <a:pt x="900042" y="25400"/>
                    </a:lnTo>
                    <a:lnTo>
                      <a:pt x="900042" y="0"/>
                    </a:lnTo>
                    <a:cubicBezTo>
                      <a:pt x="1397087" y="0"/>
                      <a:pt x="1800081" y="360807"/>
                      <a:pt x="1800081" y="805815"/>
                    </a:cubicBezTo>
                    <a:cubicBezTo>
                      <a:pt x="1800081" y="1250823"/>
                      <a:pt x="1397087" y="1611630"/>
                      <a:pt x="900042" y="1611630"/>
                    </a:cubicBezTo>
                    <a:lnTo>
                      <a:pt x="900042" y="1586230"/>
                    </a:lnTo>
                    <a:lnTo>
                      <a:pt x="900042" y="1611630"/>
                    </a:lnTo>
                    <a:cubicBezTo>
                      <a:pt x="402998" y="1611630"/>
                      <a:pt x="0" y="1250823"/>
                      <a:pt x="0" y="805815"/>
                    </a:cubicBezTo>
                    <a:lnTo>
                      <a:pt x="28370" y="805815"/>
                    </a:lnTo>
                    <a:lnTo>
                      <a:pt x="52485" y="819277"/>
                    </a:lnTo>
                    <a:cubicBezTo>
                      <a:pt x="45818" y="828929"/>
                      <a:pt x="32767" y="833374"/>
                      <a:pt x="20568" y="830199"/>
                    </a:cubicBezTo>
                    <a:cubicBezTo>
                      <a:pt x="8369" y="827024"/>
                      <a:pt x="0" y="817118"/>
                      <a:pt x="0" y="805815"/>
                    </a:cubicBezTo>
                    <a:moveTo>
                      <a:pt x="56740" y="805815"/>
                    </a:moveTo>
                    <a:lnTo>
                      <a:pt x="28370" y="805815"/>
                    </a:lnTo>
                    <a:lnTo>
                      <a:pt x="4256" y="792353"/>
                    </a:lnTo>
                    <a:cubicBezTo>
                      <a:pt x="10922" y="782701"/>
                      <a:pt x="23973" y="778256"/>
                      <a:pt x="36172" y="781431"/>
                    </a:cubicBezTo>
                    <a:cubicBezTo>
                      <a:pt x="48371" y="784606"/>
                      <a:pt x="56740" y="794512"/>
                      <a:pt x="56740" y="805815"/>
                    </a:cubicBezTo>
                    <a:cubicBezTo>
                      <a:pt x="56740" y="1222756"/>
                      <a:pt x="434347" y="1560830"/>
                      <a:pt x="900042" y="1560830"/>
                    </a:cubicBezTo>
                    <a:cubicBezTo>
                      <a:pt x="1365738" y="1560830"/>
                      <a:pt x="1743344" y="1222756"/>
                      <a:pt x="1743344" y="805815"/>
                    </a:cubicBezTo>
                    <a:lnTo>
                      <a:pt x="1771714" y="805815"/>
                    </a:lnTo>
                    <a:lnTo>
                      <a:pt x="1743344" y="805815"/>
                    </a:lnTo>
                    <a:cubicBezTo>
                      <a:pt x="1743344" y="388874"/>
                      <a:pt x="1365738" y="50800"/>
                      <a:pt x="900042" y="50800"/>
                    </a:cubicBezTo>
                    <a:lnTo>
                      <a:pt x="900042" y="25400"/>
                    </a:lnTo>
                    <a:lnTo>
                      <a:pt x="900042" y="50800"/>
                    </a:lnTo>
                    <a:cubicBezTo>
                      <a:pt x="434347" y="50800"/>
                      <a:pt x="56740" y="388874"/>
                      <a:pt x="56740" y="805815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39" name="TextBox 39"/>
          <p:cNvSpPr txBox="1"/>
          <p:nvPr/>
        </p:nvSpPr>
        <p:spPr>
          <a:xfrm>
            <a:off x="6485535" y="6888118"/>
            <a:ext cx="43800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10950" y="6925075"/>
            <a:ext cx="3823950" cy="84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 Components, Props, Scoped Styling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5334776">
            <a:off x="16518519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5" name="AutoShape 5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AutoShape 8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AutoShape 11"/>
          <p:cNvSpPr/>
          <p:nvPr/>
        </p:nvSpPr>
        <p:spPr>
          <a:xfrm rot="5334776">
            <a:off x="-215431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5797933" y="3660212"/>
            <a:ext cx="8480142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0"/>
              </a:lnSpc>
            </a:pPr>
            <a:r>
              <a:rPr lang="en-US" sz="11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35924" y="3588775"/>
            <a:ext cx="219675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‹3›</a:t>
            </a:r>
          </a:p>
        </p:txBody>
      </p:sp>
      <p:sp>
        <p:nvSpPr>
          <p:cNvPr id="15" name="AutoShape 15"/>
          <p:cNvSpPr/>
          <p:nvPr/>
        </p:nvSpPr>
        <p:spPr>
          <a:xfrm rot="10785209">
            <a:off x="3182095" y="581820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6" name="AutoShape 16"/>
          <p:cNvSpPr/>
          <p:nvPr/>
        </p:nvSpPr>
        <p:spPr>
          <a:xfrm rot="10785209">
            <a:off x="3182095" y="342575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7" name="Group 17"/>
          <p:cNvGrpSpPr/>
          <p:nvPr/>
        </p:nvGrpSpPr>
        <p:grpSpPr>
          <a:xfrm>
            <a:off x="5281033" y="4416876"/>
            <a:ext cx="516900" cy="516900"/>
            <a:chOff x="0" y="0"/>
            <a:chExt cx="689200" cy="68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4541950" y="4416876"/>
            <a:ext cx="516900" cy="516900"/>
            <a:chOff x="0" y="0"/>
            <a:chExt cx="689200" cy="68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TextBox 8"/>
          <p:cNvSpPr txBox="1"/>
          <p:nvPr/>
        </p:nvSpPr>
        <p:spPr>
          <a:xfrm>
            <a:off x="1028700" y="990600"/>
            <a:ext cx="7321643" cy="147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1"/>
              </a:lnSpc>
            </a:pPr>
            <a:r>
              <a:rPr lang="en-US" sz="94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172" y="2572525"/>
            <a:ext cx="15104756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Vue.js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framework JavaScript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progressif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open-source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conçu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construire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interfaces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utilisateur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(front-end).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Il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connu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simplicité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et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légèreté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qui le rend plus facile à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apprendre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que React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Angular.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principe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Vue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connecter les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JavaScript avec le HTML.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 met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automatiquement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jour la page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changent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deux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façons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d’écrire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Options API 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→ plus simple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Composition API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plus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avancée</a:t>
            </a: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447880" y="2701877"/>
            <a:ext cx="15811420" cy="6081315"/>
          </a:xfrm>
          <a:custGeom>
            <a:avLst/>
            <a:gdLst/>
            <a:ahLst/>
            <a:cxnLst/>
            <a:rect l="l" t="t" r="r" b="b"/>
            <a:pathLst>
              <a:path w="15811420" h="6081315">
                <a:moveTo>
                  <a:pt x="0" y="0"/>
                </a:moveTo>
                <a:lnTo>
                  <a:pt x="15811420" y="0"/>
                </a:lnTo>
                <a:lnTo>
                  <a:pt x="15811420" y="6081315"/>
                </a:lnTo>
                <a:lnTo>
                  <a:pt x="0" y="6081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60240"/>
            <a:ext cx="7321643" cy="147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1"/>
              </a:lnSpc>
            </a:pPr>
            <a:r>
              <a:rPr lang="en-US" sz="94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Historique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755627" y="4084486"/>
            <a:ext cx="12965459" cy="4651640"/>
          </a:xfrm>
          <a:custGeom>
            <a:avLst/>
            <a:gdLst/>
            <a:ahLst/>
            <a:cxnLst/>
            <a:rect l="l" t="t" r="r" b="b"/>
            <a:pathLst>
              <a:path w="12965459" h="4651640">
                <a:moveTo>
                  <a:pt x="0" y="0"/>
                </a:moveTo>
                <a:lnTo>
                  <a:pt x="12965459" y="0"/>
                </a:lnTo>
                <a:lnTo>
                  <a:pt x="12965459" y="4651640"/>
                </a:lnTo>
                <a:lnTo>
                  <a:pt x="0" y="4651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85" b="-228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53353"/>
            <a:ext cx="1623060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1"/>
              </a:lnSpc>
            </a:pPr>
            <a:r>
              <a:rPr lang="en-US" sz="56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Introduction: comment créer une application Vue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‹6›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9121" y="3339353"/>
            <a:ext cx="286787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À l’aide du CDN: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4528830" y="3056763"/>
            <a:ext cx="10277627" cy="6201537"/>
          </a:xfrm>
          <a:custGeom>
            <a:avLst/>
            <a:gdLst/>
            <a:ahLst/>
            <a:cxnLst/>
            <a:rect l="l" t="t" r="r" b="b"/>
            <a:pathLst>
              <a:path w="10277627" h="6201537">
                <a:moveTo>
                  <a:pt x="0" y="0"/>
                </a:moveTo>
                <a:lnTo>
                  <a:pt x="10277626" y="0"/>
                </a:lnTo>
                <a:lnTo>
                  <a:pt x="10277626" y="6201537"/>
                </a:lnTo>
                <a:lnTo>
                  <a:pt x="0" y="6201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09" b="-279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863681"/>
            <a:ext cx="1623060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1"/>
              </a:lnSpc>
            </a:pPr>
            <a:r>
              <a:rPr lang="en-US" sz="56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Introduction: comment créer une application Vue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‹7›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9121" y="3339353"/>
            <a:ext cx="286787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À l’aide du CDN: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0557693" y="3101009"/>
            <a:ext cx="6065463" cy="5973839"/>
          </a:xfrm>
          <a:custGeom>
            <a:avLst/>
            <a:gdLst/>
            <a:ahLst/>
            <a:cxnLst/>
            <a:rect l="l" t="t" r="r" b="b"/>
            <a:pathLst>
              <a:path w="6065463" h="5973839">
                <a:moveTo>
                  <a:pt x="0" y="0"/>
                </a:moveTo>
                <a:lnTo>
                  <a:pt x="6065463" y="0"/>
                </a:lnTo>
                <a:lnTo>
                  <a:pt x="6065463" y="5973839"/>
                </a:lnTo>
                <a:lnTo>
                  <a:pt x="0" y="597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00125"/>
            <a:ext cx="1623060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1"/>
              </a:lnSpc>
            </a:pPr>
            <a:r>
              <a:rPr lang="en-US" sz="56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Introduction: comment créer une application Vue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‹8›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0071" y="3056449"/>
            <a:ext cx="286787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À l’aide du Vite: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0071" y="3915718"/>
            <a:ext cx="8912670" cy="459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0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npm (Node Package Manager) fait partie de Node.js, donc tu as besoin de Node.js pour l’utiliser.</a:t>
            </a:r>
          </a:p>
          <a:p>
            <a:pPr algn="l">
              <a:lnSpc>
                <a:spcPts val="3663"/>
              </a:lnSpc>
            </a:pPr>
            <a:endParaRPr lang="en-US" sz="305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63"/>
              </a:lnSpc>
            </a:pPr>
            <a:r>
              <a:rPr lang="en-US" sz="30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npm create vue@latest my-project </a:t>
            </a:r>
          </a:p>
          <a:p>
            <a:pPr algn="l">
              <a:lnSpc>
                <a:spcPts val="3663"/>
              </a:lnSpc>
            </a:pPr>
            <a:endParaRPr lang="en-US" sz="305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63"/>
              </a:lnSpc>
            </a:pPr>
            <a:r>
              <a:rPr lang="en-US" sz="30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cd my-project</a:t>
            </a:r>
          </a:p>
          <a:p>
            <a:pPr algn="l">
              <a:lnSpc>
                <a:spcPts val="3663"/>
              </a:lnSpc>
            </a:pPr>
            <a:endParaRPr lang="en-US" sz="305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63"/>
              </a:lnSpc>
            </a:pPr>
            <a:r>
              <a:rPr lang="en-US" sz="30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npm install </a:t>
            </a:r>
          </a:p>
          <a:p>
            <a:pPr algn="l">
              <a:lnSpc>
                <a:spcPts val="3663"/>
              </a:lnSpc>
            </a:pPr>
            <a:endParaRPr lang="en-US" sz="305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6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npm run 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12475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Freeform 10"/>
          <p:cNvSpPr/>
          <p:nvPr/>
        </p:nvSpPr>
        <p:spPr>
          <a:xfrm>
            <a:off x="1309331" y="3147400"/>
            <a:ext cx="7019963" cy="5889623"/>
          </a:xfrm>
          <a:custGeom>
            <a:avLst/>
            <a:gdLst/>
            <a:ahLst/>
            <a:cxnLst/>
            <a:rect l="l" t="t" r="r" b="b"/>
            <a:pathLst>
              <a:path w="7019963" h="5889623">
                <a:moveTo>
                  <a:pt x="0" y="0"/>
                </a:moveTo>
                <a:lnTo>
                  <a:pt x="7019962" y="0"/>
                </a:lnTo>
                <a:lnTo>
                  <a:pt x="7019962" y="5889623"/>
                </a:lnTo>
                <a:lnTo>
                  <a:pt x="0" y="5889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845" r="-201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‹9›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09025"/>
            <a:ext cx="5753100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Templates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9331" y="1852000"/>
            <a:ext cx="1043332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 template dans Vue.js = la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partie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HTML 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l’application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Il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afficher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l’utilisateur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voit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33100" y="2610824"/>
            <a:ext cx="8968600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endParaRPr dirty="0"/>
          </a:p>
          <a:p>
            <a:pPr algn="l">
              <a:lnSpc>
                <a:spcPts val="3599"/>
              </a:lnSpc>
            </a:pPr>
            <a:endParaRPr dirty="0"/>
          </a:p>
          <a:p>
            <a:pPr algn="l">
              <a:lnSpc>
                <a:spcPts val="3599"/>
              </a:lnSpc>
            </a:pPr>
            <a:r>
              <a:rPr lang="en-US" sz="29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Interpolation de </a:t>
            </a:r>
            <a:r>
              <a:rPr lang="en-US" sz="2999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texte</a:t>
            </a:r>
            <a:r>
              <a:rPr lang="en-US" sz="29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syntaxe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double accolades {{ }} pour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afficher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dynamiques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le HTML. </a:t>
            </a: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 :</a:t>
            </a:r>
          </a:p>
          <a:p>
            <a:pPr algn="l">
              <a:lnSpc>
                <a:spcPts val="3599"/>
              </a:lnSpc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Mettre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tout dans template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devient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difficile à lire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grandit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599"/>
              </a:lnSpc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Alors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On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fichiers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.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appelés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Single File Components.</a:t>
            </a: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028700" y="6740324"/>
            <a:ext cx="5774023" cy="1919206"/>
          </a:xfrm>
          <a:custGeom>
            <a:avLst/>
            <a:gdLst/>
            <a:ahLst/>
            <a:cxnLst/>
            <a:rect l="l" t="t" r="r" b="b"/>
            <a:pathLst>
              <a:path w="5774023" h="1919206">
                <a:moveTo>
                  <a:pt x="0" y="0"/>
                </a:moveTo>
                <a:lnTo>
                  <a:pt x="5774023" y="0"/>
                </a:lnTo>
                <a:lnTo>
                  <a:pt x="5774023" y="1919207"/>
                </a:lnTo>
                <a:lnTo>
                  <a:pt x="0" y="191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03414" y="6383826"/>
            <a:ext cx="3912709" cy="2370355"/>
          </a:xfrm>
          <a:custGeom>
            <a:avLst/>
            <a:gdLst/>
            <a:ahLst/>
            <a:cxnLst/>
            <a:rect l="l" t="t" r="r" b="b"/>
            <a:pathLst>
              <a:path w="3912709" h="2370355">
                <a:moveTo>
                  <a:pt x="0" y="0"/>
                </a:moveTo>
                <a:lnTo>
                  <a:pt x="3912709" y="0"/>
                </a:lnTo>
                <a:lnTo>
                  <a:pt x="3912709" y="2370354"/>
                </a:lnTo>
                <a:lnTo>
                  <a:pt x="0" y="2370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16813" y="3442888"/>
            <a:ext cx="4668583" cy="4775731"/>
          </a:xfrm>
          <a:custGeom>
            <a:avLst/>
            <a:gdLst/>
            <a:ahLst/>
            <a:cxnLst/>
            <a:rect l="l" t="t" r="r" b="b"/>
            <a:pathLst>
              <a:path w="4668583" h="4775731">
                <a:moveTo>
                  <a:pt x="0" y="0"/>
                </a:moveTo>
                <a:lnTo>
                  <a:pt x="4668583" y="0"/>
                </a:lnTo>
                <a:lnTo>
                  <a:pt x="4668583" y="4775731"/>
                </a:lnTo>
                <a:lnTo>
                  <a:pt x="0" y="4775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387556"/>
            <a:ext cx="1144050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1"/>
              </a:lnSpc>
            </a:pPr>
            <a:r>
              <a:rPr lang="en-US" sz="455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Composant SFC (Single File Component)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‹10›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6006" y="2721056"/>
            <a:ext cx="5382394" cy="481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Structure d'un fichier .vue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111" y="3456143"/>
            <a:ext cx="9601275" cy="143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 SFC regroupe en un seul fichier .vue les trois parties d'un composant : la logique JS, le template HTML et les styles CSS.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5954" y="5945676"/>
            <a:ext cx="3003646" cy="408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Dans main.js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6442" y="5945676"/>
            <a:ext cx="381821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Dans App.vue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0350" y="212475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‹11›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3606" y="1000125"/>
            <a:ext cx="8943194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5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5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v-bind</a:t>
            </a: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1561" y="2028825"/>
            <a:ext cx="14832324" cy="672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236" lvl="1" indent="-302118" algn="l">
              <a:lnSpc>
                <a:spcPts val="3358"/>
              </a:lnSpc>
              <a:buFont typeface="Arial"/>
              <a:buChar char="•"/>
            </a:pP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Lie un </a:t>
            </a:r>
            <a:r>
              <a:rPr lang="en-US" sz="2798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attribut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HTML à </a:t>
            </a:r>
            <a:r>
              <a:rPr lang="en-US" sz="2798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variable de </a:t>
            </a:r>
            <a:r>
              <a:rPr lang="en-US" sz="2798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données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</a:t>
            </a:r>
            <a:r>
              <a:rPr lang="en-US" sz="2798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l’instance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Vue</a:t>
            </a:r>
          </a:p>
          <a:p>
            <a:pPr algn="l">
              <a:lnSpc>
                <a:spcPts val="3358"/>
              </a:lnSpc>
            </a:pPr>
            <a:endParaRPr lang="en-US" sz="2798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358"/>
              </a:lnSpc>
            </a:pPr>
            <a:r>
              <a:rPr lang="en-US" sz="2798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v-bind:attribut</a:t>
            </a:r>
            <a:r>
              <a:rPr lang="en-US" sz="2798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8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dataVue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&gt;&lt;/div&gt;</a:t>
            </a:r>
          </a:p>
          <a:p>
            <a:pPr algn="l">
              <a:lnSpc>
                <a:spcPts val="3358"/>
              </a:lnSpc>
            </a:pPr>
            <a:endParaRPr lang="en-US" sz="2798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8"/>
              </a:lnSpc>
            </a:pPr>
            <a:r>
              <a:rPr lang="en-US" sz="2798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2798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</a:t>
            </a:r>
            <a:r>
              <a:rPr lang="en-US" sz="2798" dirty="0" err="1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img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v-bind:src</a:t>
            </a:r>
            <a:r>
              <a:rPr lang="en-US" sz="2798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8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url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</a:p>
          <a:p>
            <a:pPr algn="l">
              <a:lnSpc>
                <a:spcPts val="3358"/>
              </a:lnSpc>
            </a:pP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→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L’image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url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(dans Vue)</a:t>
            </a:r>
          </a:p>
          <a:p>
            <a:pPr algn="l">
              <a:lnSpc>
                <a:spcPts val="3358"/>
              </a:lnSpc>
            </a:pPr>
            <a:endParaRPr lang="en-US" sz="279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8"/>
              </a:lnSpc>
            </a:pPr>
            <a:r>
              <a:rPr lang="en-US" sz="2798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Modifier le style (CSS):</a:t>
            </a:r>
          </a:p>
          <a:p>
            <a:pPr algn="l">
              <a:lnSpc>
                <a:spcPts val="3358"/>
              </a:lnSpc>
            </a:pP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v-bind:style</a:t>
            </a:r>
            <a:r>
              <a:rPr lang="en-US" sz="2798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"{ </a:t>
            </a:r>
            <a:r>
              <a:rPr lang="en-US" sz="2798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fontSize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: size + 'px' }"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Texte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&lt;/div&gt;</a:t>
            </a:r>
          </a:p>
          <a:p>
            <a:pPr algn="l">
              <a:lnSpc>
                <a:spcPts val="3358"/>
              </a:lnSpc>
            </a:pP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La taille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dépend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size</a:t>
            </a:r>
          </a:p>
          <a:p>
            <a:pPr algn="l">
              <a:lnSpc>
                <a:spcPts val="3358"/>
              </a:lnSpc>
            </a:pPr>
            <a:endParaRPr lang="en-US" sz="279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8"/>
              </a:lnSpc>
            </a:pPr>
            <a:r>
              <a:rPr lang="en-US" sz="2798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Modifier les classes: 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v-bind:class</a:t>
            </a:r>
            <a:r>
              <a:rPr lang="en-US" sz="2798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"{ </a:t>
            </a:r>
            <a:r>
              <a:rPr lang="en-US" sz="2798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myClass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798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isImportant</a:t>
            </a:r>
            <a:r>
              <a:rPr lang="en-US" sz="2798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 }"</a:t>
            </a:r>
            <a:r>
              <a:rPr lang="en-US" sz="2798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&gt;&lt;/div&gt;</a:t>
            </a:r>
          </a:p>
          <a:p>
            <a:pPr algn="l">
              <a:lnSpc>
                <a:spcPts val="3358"/>
              </a:lnSpc>
            </a:pP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La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classe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s’applique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seulement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isImportant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 true</a:t>
            </a:r>
          </a:p>
          <a:p>
            <a:pPr algn="l">
              <a:lnSpc>
                <a:spcPts val="3358"/>
              </a:lnSpc>
            </a:pPr>
            <a:endParaRPr lang="en-US" sz="279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8"/>
              </a:lnSpc>
            </a:pPr>
            <a:r>
              <a:rPr lang="en-US" sz="2798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Version </a:t>
            </a:r>
            <a:r>
              <a:rPr lang="en-US" sz="2798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courte</a:t>
            </a:r>
            <a:r>
              <a:rPr lang="en-US" sz="2798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(shorthand):</a:t>
            </a:r>
          </a:p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</a:t>
            </a:r>
            <a:r>
              <a:rPr lang="en-US" sz="279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raccourci</a:t>
            </a:r>
            <a:r>
              <a:rPr lang="en-US" sz="279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798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v-bind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863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‹12›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200" y="918550"/>
            <a:ext cx="7399394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4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v-if</a:t>
            </a:r>
            <a:r>
              <a:rPr lang="en-US" sz="4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23425"/>
            <a:ext cx="13167776" cy="708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v-if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permet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d’afficher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un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élément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seulement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condition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est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vraie</a:t>
            </a:r>
            <a:endParaRPr lang="en-US" sz="27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Vue affiche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cache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automatiquement</a:t>
            </a:r>
            <a:r>
              <a:rPr lang="en-US" sz="27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l’élément</a:t>
            </a:r>
            <a:endParaRPr lang="en-US" sz="27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359"/>
              </a:lnSpc>
            </a:pPr>
            <a:endParaRPr lang="en-US" sz="27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359"/>
              </a:lnSpc>
            </a:pPr>
            <a:r>
              <a:rPr lang="en-US" sz="2799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2799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v-if=</a:t>
            </a:r>
            <a:r>
              <a:rPr lang="en-US" sz="27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inStock</a:t>
            </a:r>
            <a:r>
              <a:rPr lang="en-US" sz="27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v-else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Rupture de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Avec </a:t>
            </a:r>
            <a:r>
              <a:rPr lang="en-US" sz="2799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 condition: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comparaisons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(&gt;, &lt;, ===, etc.)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v-if=</a:t>
            </a:r>
            <a:r>
              <a:rPr lang="en-US" sz="27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"count &gt; 0"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v-else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&gt;Rupture de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Avec </a:t>
            </a:r>
            <a:r>
              <a:rPr lang="en-US" sz="2799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plusieurs</a:t>
            </a: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cas</a:t>
            </a:r>
            <a:r>
              <a:rPr lang="en-US" sz="27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 teste les conditions dans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l’ordre</a:t>
            </a: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v-if=</a:t>
            </a:r>
            <a:r>
              <a:rPr lang="en-US" sz="27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"count &gt; 3"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v-else-if=</a:t>
            </a:r>
            <a:r>
              <a:rPr lang="en-US" sz="27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"count &gt; 0"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Presque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épuisé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v-else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Rupture de stock</a:t>
            </a:r>
            <a:r>
              <a:rPr lang="en-US" sz="27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120"/>
              </a:lnSpc>
            </a:pPr>
            <a:endParaRPr lang="en-US" sz="27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120"/>
              </a:lnSpc>
              <a:spcBef>
                <a:spcPct val="0"/>
              </a:spcBef>
            </a:pPr>
            <a:endParaRPr lang="en-US" sz="27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‹13›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4306" y="1000125"/>
            <a:ext cx="8782494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5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v-show</a:t>
            </a: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9021" y="5411972"/>
            <a:ext cx="2970850" cy="242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674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data()</a:t>
            </a: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{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</a:t>
            </a:r>
            <a:r>
              <a:rPr lang="en-US" sz="2674">
                <a:solidFill>
                  <a:srgbClr val="FF66C4"/>
                </a:solidFill>
                <a:latin typeface="Arimo"/>
                <a:ea typeface="Arimo"/>
                <a:cs typeface="Arimo"/>
                <a:sym typeface="Arimo"/>
              </a:rPr>
              <a:t>return</a:t>
            </a: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{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showDiv: </a:t>
            </a:r>
            <a:r>
              <a:rPr lang="en-US" sz="2674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}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}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endParaRPr lang="en-US" sz="2674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6250" y="1809750"/>
            <a:ext cx="14101253" cy="717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v-show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permet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montrer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cacher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un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élément</a:t>
            </a:r>
            <a:endParaRPr lang="en-US" sz="29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le cache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juste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avec du CSS (display: none)</a:t>
            </a:r>
          </a:p>
          <a:p>
            <a:pPr algn="l">
              <a:lnSpc>
                <a:spcPts val="3599"/>
              </a:lnSpc>
            </a:pPr>
            <a:endParaRPr lang="en-US" sz="29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v-show=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"condition"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Contenu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&lt;/div&gt;</a:t>
            </a:r>
          </a:p>
          <a:p>
            <a:pPr algn="l">
              <a:lnSpc>
                <a:spcPts val="3599"/>
              </a:lnSpc>
            </a:pPr>
            <a:r>
              <a:rPr lang="en-US" sz="2999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2999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3599"/>
              </a:lnSpc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 </a:t>
            </a:r>
            <a:r>
              <a:rPr lang="en-US" sz="29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v-show=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9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showDiv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peut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être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caché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&lt;/div&gt;</a:t>
            </a: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endParaRPr lang="en-US" sz="2999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Différence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avec v-if: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v-if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crée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supprime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l’élément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47698" lvl="1" indent="-323849" algn="l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v-show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cache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affiche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seulement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2C066-EAE3-400F-8CC8-C6700DA1B3B8}"/>
              </a:ext>
            </a:extLst>
          </p:cNvPr>
          <p:cNvSpPr/>
          <p:nvPr/>
        </p:nvSpPr>
        <p:spPr>
          <a:xfrm>
            <a:off x="990600" y="4991100"/>
            <a:ext cx="4495800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92 -0.0037 L 0.37292 -0.003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‹14›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581" y="1009650"/>
            <a:ext cx="8373796" cy="662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89"/>
              </a:lnSpc>
              <a:spcBef>
                <a:spcPct val="0"/>
              </a:spcBef>
            </a:pPr>
            <a:r>
              <a:rPr lang="en-US" sz="4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574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v-for</a:t>
            </a:r>
            <a:r>
              <a:rPr lang="en-US" sz="4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010" y="2091125"/>
            <a:ext cx="13251957" cy="608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729" lvl="1" indent="-331864" algn="l">
              <a:lnSpc>
                <a:spcPts val="3689"/>
              </a:lnSpc>
              <a:buFont typeface="Arial"/>
              <a:buChar char="•"/>
            </a:pP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v-for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permet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répéter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des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éléments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HTML (faire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liste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  <a:p>
            <a:pPr marL="663729" lvl="1" indent="-331864" algn="l">
              <a:lnSpc>
                <a:spcPts val="3689"/>
              </a:lnSpc>
              <a:buFont typeface="Arial"/>
              <a:buChar char="•"/>
            </a:pP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donne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un tableau, Vue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crée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automatiquement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les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éléments</a:t>
            </a:r>
            <a:endParaRPr lang="en-US" sz="30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63729" lvl="1" indent="-331864" algn="l">
              <a:lnSpc>
                <a:spcPts val="3689"/>
              </a:lnSpc>
              <a:buFont typeface="Arial"/>
              <a:buChar char="•"/>
            </a:pP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 le tableau change →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l’affichage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change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aussi</a:t>
            </a:r>
            <a:endParaRPr lang="en-US" sz="30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89"/>
              </a:lnSpc>
            </a:pPr>
            <a:endParaRPr lang="en-US" sz="30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Syntaxe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074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v-for=</a:t>
            </a:r>
            <a:r>
              <a:rPr lang="en-US" sz="3074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"element in tableau"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dirty="0">
              <a:solidFill>
                <a:srgbClr val="00BF6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3074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&lt;ul&gt;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3074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&lt;li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74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v-for=</a:t>
            </a:r>
            <a:r>
              <a:rPr lang="en-US" sz="3074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"fruit in fruits"</a:t>
            </a:r>
            <a:r>
              <a:rPr lang="en-US" sz="3074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{{ fruit }}</a:t>
            </a:r>
            <a:r>
              <a:rPr lang="en-US" sz="3074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&lt;/li&gt;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&lt;/ul&gt;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→  Affiche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tous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fruits du tableau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‹15›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09650"/>
            <a:ext cx="954631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  <a:spcBef>
                <a:spcPct val="0"/>
              </a:spcBef>
            </a:pPr>
            <a:r>
              <a:rPr lang="en-US" sz="4574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Événements</a:t>
            </a:r>
            <a:r>
              <a:rPr lang="en-US" sz="45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(Events)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200" y="2028825"/>
            <a:ext cx="16795550" cy="695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729" lvl="1" indent="-331864" algn="l">
              <a:lnSpc>
                <a:spcPts val="3689"/>
              </a:lnSpc>
              <a:buFont typeface="Arial"/>
              <a:buChar char="•"/>
            </a:pP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Les events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permettent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réagir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aux actions de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l’utilisateur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(ex :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clic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clavier,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souris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…)</a:t>
            </a:r>
          </a:p>
          <a:p>
            <a:pPr marL="663729" lvl="1" indent="-331864" algn="l">
              <a:lnSpc>
                <a:spcPts val="3689"/>
              </a:lnSpc>
              <a:buFont typeface="Arial"/>
              <a:buChar char="•"/>
            </a:pP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Quand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l’utilisateur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fait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0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action → du code </a:t>
            </a:r>
            <a:r>
              <a:rPr lang="en-US" sz="30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s’exécute</a:t>
            </a:r>
            <a:endParaRPr lang="en-US" sz="30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b="1" u="sng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Événements</a:t>
            </a:r>
            <a:r>
              <a:rPr lang="en-US" sz="3074" b="1" u="sng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courants</a:t>
            </a: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click →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clic</a:t>
            </a: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mouseover →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souris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sur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l’élément</a:t>
            </a: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keydown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touche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clavier</a:t>
            </a: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input →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saisie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utilisateur</a:t>
            </a: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Voici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trois techniques que nous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devons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apprendre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utiliser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Vue.js :</a:t>
            </a: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directive v-on</a:t>
            </a: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méthodes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</a:t>
            </a:r>
          </a:p>
          <a:p>
            <a:pPr marL="663729" lvl="1" indent="-331864" algn="l">
              <a:lnSpc>
                <a:spcPts val="3689"/>
              </a:lnSpc>
              <a:spcBef>
                <a:spcPct val="0"/>
              </a:spcBef>
              <a:buFont typeface="Arial"/>
              <a:buChar char="•"/>
            </a:pP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</a:t>
            </a:r>
            <a:r>
              <a:rPr lang="en-US" sz="3074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modificateurs</a:t>
            </a:r>
            <a:r>
              <a:rPr lang="en-US" sz="307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v-on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209"/>
              </a:lnSpc>
              <a:spcBef>
                <a:spcPct val="0"/>
              </a:spcBef>
            </a:pPr>
            <a:endParaRPr lang="en-US" sz="307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1425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‹16›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28825"/>
            <a:ext cx="16230600" cy="6014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Lie un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événement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(click, etc.) à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expression JavaScript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méthode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Vue. On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peut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préciser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le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comportement</a:t>
            </a:r>
            <a:r>
              <a:rPr lang="en-US" sz="3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avec des </a:t>
            </a:r>
            <a:r>
              <a:rPr lang="en-US" sz="30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modificateurs</a:t>
            </a:r>
            <a:endParaRPr lang="en-US" sz="30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19"/>
              </a:lnSpc>
            </a:pPr>
            <a:endParaRPr lang="en-US" sz="30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b="1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099" b="1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&lt;button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9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v-on:click</a:t>
            </a:r>
            <a:r>
              <a:rPr lang="en-US" sz="3099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30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"action"</a:t>
            </a:r>
            <a:r>
              <a:rPr lang="en-US" sz="30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Cliquer</a:t>
            </a:r>
            <a:r>
              <a:rPr lang="en-US" sz="30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&lt;/button&gt;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click =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</a:t>
            </a: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action = code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exécuté</a:t>
            </a: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19"/>
              </a:lnSpc>
              <a:spcBef>
                <a:spcPct val="0"/>
              </a:spcBef>
            </a:pP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dit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Vue :</a:t>
            </a:r>
          </a:p>
          <a:p>
            <a:pPr marL="669288" lvl="1" indent="-334644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quel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écouter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(click, input…)</a:t>
            </a:r>
          </a:p>
          <a:p>
            <a:pPr marL="669288" lvl="1" indent="-334644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quelle action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exécuter</a:t>
            </a: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81124" y="1000125"/>
            <a:ext cx="751002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v-on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12475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‹17›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406" y="1316913"/>
            <a:ext cx="16230600" cy="759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🔹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 (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clic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&lt;button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v-on:click</a:t>
            </a:r>
            <a:r>
              <a:rPr lang="en-US" sz="2999" dirty="0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9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lightOn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 = !</a:t>
            </a:r>
            <a:r>
              <a:rPr lang="en-US" sz="29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lightOn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Allumer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Éteindre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&lt;/button&gt;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Chaque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clic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change la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(true ↔ false)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🔹 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 (input)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&lt;input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v-on:input</a:t>
            </a:r>
            <a:r>
              <a:rPr lang="en-US" sz="2999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"count++"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&lt;p&gt;</a:t>
            </a:r>
            <a:r>
              <a:rPr lang="en-US" sz="2999" dirty="0">
                <a:solidFill>
                  <a:srgbClr val="FFDE59"/>
                </a:solidFill>
                <a:latin typeface="Arimo"/>
                <a:ea typeface="Arimo"/>
                <a:cs typeface="Arimo"/>
                <a:sym typeface="Arimo"/>
              </a:rPr>
              <a:t>{{ count }}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Chaque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frappe au clavier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augmente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compteur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🔹 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 (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souris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&lt;div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v-on:mousemove</a:t>
            </a:r>
            <a:r>
              <a:rPr lang="en-US" sz="2999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"color = </a:t>
            </a:r>
            <a:r>
              <a:rPr lang="en-US" sz="29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Math.random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()"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&gt;&lt;/div&gt;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Bouger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souris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déclenche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action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🔹 </a:t>
            </a:r>
            <a:r>
              <a:rPr lang="en-US" sz="2999" b="1" u="sng" dirty="0" err="1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99" b="1" u="sng" dirty="0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 avec v-for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&lt;li </a:t>
            </a:r>
            <a:r>
              <a:rPr lang="en-US" sz="2999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v-for=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"item in items"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v-on:click</a:t>
            </a:r>
            <a:r>
              <a:rPr lang="en-US" sz="2999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"select(item)"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 </a:t>
            </a:r>
            <a:r>
              <a:rPr lang="en-US" sz="2999" dirty="0">
                <a:solidFill>
                  <a:srgbClr val="FFDE59"/>
                </a:solidFill>
                <a:latin typeface="Arimo"/>
                <a:ea typeface="Arimo"/>
                <a:cs typeface="Arimo"/>
                <a:sym typeface="Arimo"/>
              </a:rPr>
              <a:t>{{ item }} </a:t>
            </a:r>
            <a:r>
              <a:rPr lang="en-US" sz="299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&lt;/li&gt;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Chaque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élément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son propre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8700" y="6362649"/>
            <a:ext cx="460995" cy="306562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8700" y="8145586"/>
            <a:ext cx="460995" cy="30656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8700" y="4556749"/>
            <a:ext cx="460995" cy="306562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4406" y="2298947"/>
            <a:ext cx="460995" cy="306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1425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‹18›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19300"/>
            <a:ext cx="16230600" cy="651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Utilisé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les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formulaires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(&lt;form&gt;, &lt;input&gt;, &lt;button&gt;).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Crée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liaison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bidirectionnelle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entre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l’input</a:t>
            </a:r>
            <a:r>
              <a:rPr lang="en-US" sz="31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et les </a:t>
            </a:r>
            <a:r>
              <a:rPr lang="en-US" sz="31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données</a:t>
            </a:r>
            <a:endParaRPr lang="en-US" sz="317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04"/>
              </a:lnSpc>
            </a:pPr>
            <a:endParaRPr lang="en-US" sz="317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l’utilisateur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écrit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la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change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change → le champ se met à jour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C’est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qu’on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appelle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liaison </a:t>
            </a:r>
            <a:r>
              <a:rPr lang="en-US" sz="317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bidirectionnelle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(two-way binding).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endParaRPr lang="en-US" sz="317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3170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 simple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endParaRPr lang="en-US" sz="3170" dirty="0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&lt;input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type=</a:t>
            </a:r>
            <a:r>
              <a:rPr lang="en-US" sz="3170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"text"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0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v-model=</a:t>
            </a:r>
            <a:r>
              <a:rPr lang="en-US" sz="3170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"message"</a:t>
            </a:r>
            <a:r>
              <a:rPr lang="en-US" sz="3170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3170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&lt;p&gt;</a:t>
            </a:r>
            <a:r>
              <a:rPr lang="en-US" sz="317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{{ message }}</a:t>
            </a:r>
            <a:r>
              <a:rPr lang="en-US" sz="3170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&lt;/p&gt;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endParaRPr lang="en-US" sz="3170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170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170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81124" y="1000125"/>
            <a:ext cx="1132088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Directive </a:t>
            </a: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v-model 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dans Vue.js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‹19›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581" y="1000125"/>
            <a:ext cx="8191619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</a:t>
            </a:r>
            <a:r>
              <a:rPr lang="en-US" sz="45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Methods</a:t>
            </a:r>
            <a:r>
              <a:rPr lang="en-US" sz="45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93713"/>
            <a:ext cx="16438726" cy="748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méthode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est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fonction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qui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peut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être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définie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l’instance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Vue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comme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ceci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</a:t>
            </a:r>
          </a:p>
          <a:p>
            <a:pPr algn="l">
              <a:lnSpc>
                <a:spcPts val="3731"/>
              </a:lnSpc>
            </a:pPr>
            <a:endParaRPr lang="en-US" sz="310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app = </a:t>
            </a: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Vue.createApp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({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data() {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</a:t>
            </a:r>
            <a:r>
              <a:rPr lang="en-US" sz="310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return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{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 text : ' '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}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},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31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methods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{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</a:t>
            </a: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writeText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() {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    </a:t>
            </a:r>
            <a:r>
              <a:rPr lang="en-US" sz="3109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09" dirty="0" err="1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this.</a:t>
            </a: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 </a:t>
            </a:r>
            <a:r>
              <a:rPr lang="en-US" sz="310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'Hello World!'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} 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}</a:t>
            </a:r>
          </a:p>
          <a:p>
            <a:pPr algn="l">
              <a:lnSpc>
                <a:spcPts val="3731"/>
              </a:lnSpc>
            </a:pP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})</a:t>
            </a:r>
          </a:p>
          <a:p>
            <a:pPr algn="l">
              <a:lnSpc>
                <a:spcPts val="3731"/>
              </a:lnSpc>
            </a:pPr>
            <a:endParaRPr lang="en-US" sz="310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31"/>
              </a:lnSpc>
              <a:spcBef>
                <a:spcPct val="0"/>
              </a:spcBef>
            </a:pP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this.text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accéder</a:t>
            </a:r>
            <a:r>
              <a:rPr lang="en-US" sz="310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aux </a:t>
            </a:r>
            <a:r>
              <a:rPr lang="en-US" sz="310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endParaRPr lang="en-US" sz="310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9896850" y="2319472"/>
            <a:ext cx="6902392" cy="6163545"/>
          </a:xfrm>
          <a:custGeom>
            <a:avLst/>
            <a:gdLst/>
            <a:ahLst/>
            <a:cxnLst/>
            <a:rect l="l" t="t" r="r" b="b"/>
            <a:pathLst>
              <a:path w="6902392" h="6163545">
                <a:moveTo>
                  <a:pt x="0" y="0"/>
                </a:moveTo>
                <a:lnTo>
                  <a:pt x="6902392" y="0"/>
                </a:lnTo>
                <a:lnTo>
                  <a:pt x="6902392" y="6163545"/>
                </a:lnTo>
                <a:lnTo>
                  <a:pt x="0" y="616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7151" y="3337438"/>
            <a:ext cx="7819574" cy="2054716"/>
          </a:xfrm>
          <a:custGeom>
            <a:avLst/>
            <a:gdLst/>
            <a:ahLst/>
            <a:cxnLst/>
            <a:rect l="l" t="t" r="r" b="b"/>
            <a:pathLst>
              <a:path w="7819574" h="2054716">
                <a:moveTo>
                  <a:pt x="0" y="0"/>
                </a:moveTo>
                <a:lnTo>
                  <a:pt x="7819574" y="0"/>
                </a:lnTo>
                <a:lnTo>
                  <a:pt x="7819574" y="2054716"/>
                </a:lnTo>
                <a:lnTo>
                  <a:pt x="0" y="2054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795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‹20›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9650" y="2272717"/>
            <a:ext cx="8693468" cy="621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 u="sng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Utilisation avec v-on</a:t>
            </a: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 on clique → la méthode s’exécute</a:t>
            </a: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9427" y="1000125"/>
            <a:ext cx="731172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</a:t>
            </a: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Methods 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dans Vue.js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340071" y="3101524"/>
            <a:ext cx="10082109" cy="3158772"/>
          </a:xfrm>
          <a:custGeom>
            <a:avLst/>
            <a:gdLst/>
            <a:ahLst/>
            <a:cxnLst/>
            <a:rect l="l" t="t" r="r" b="b"/>
            <a:pathLst>
              <a:path w="10082109" h="3158772">
                <a:moveTo>
                  <a:pt x="0" y="0"/>
                </a:moveTo>
                <a:lnTo>
                  <a:pt x="10082109" y="0"/>
                </a:lnTo>
                <a:lnTo>
                  <a:pt x="10082109" y="3158772"/>
                </a:lnTo>
                <a:lnTo>
                  <a:pt x="0" y="3158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1314" y="7910424"/>
            <a:ext cx="10430866" cy="877962"/>
          </a:xfrm>
          <a:custGeom>
            <a:avLst/>
            <a:gdLst/>
            <a:ahLst/>
            <a:cxnLst/>
            <a:rect l="l" t="t" r="r" b="b"/>
            <a:pathLst>
              <a:path w="10430866" h="877962">
                <a:moveTo>
                  <a:pt x="0" y="0"/>
                </a:moveTo>
                <a:lnTo>
                  <a:pt x="10430866" y="0"/>
                </a:lnTo>
                <a:lnTo>
                  <a:pt x="10430866" y="877963"/>
                </a:lnTo>
                <a:lnTo>
                  <a:pt x="0" y="877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802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‹21›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0071" y="2184604"/>
            <a:ext cx="9222142" cy="452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 u="sng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Avec un événement (event)</a:t>
            </a: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endParaRPr lang="en-US" sz="37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1"/>
              </a:lnSpc>
              <a:spcBef>
                <a:spcPct val="0"/>
              </a:spcBef>
            </a:pPr>
            <a:r>
              <a:rPr lang="en-US" sz="3742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event</a:t>
            </a:r>
            <a:r>
              <a:rPr lang="en-US" sz="37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donne des infos (position souris, etc.)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427" y="1000125"/>
            <a:ext cx="731172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</a:t>
            </a: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Methods 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dans Vue.js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0071" y="7013779"/>
            <a:ext cx="922214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4133" u="sng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Argument + event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340071" y="3475919"/>
            <a:ext cx="11489104" cy="1132353"/>
          </a:xfrm>
          <a:custGeom>
            <a:avLst/>
            <a:gdLst/>
            <a:ahLst/>
            <a:cxnLst/>
            <a:rect l="l" t="t" r="r" b="b"/>
            <a:pathLst>
              <a:path w="11489104" h="1132353">
                <a:moveTo>
                  <a:pt x="0" y="0"/>
                </a:moveTo>
                <a:lnTo>
                  <a:pt x="11489104" y="0"/>
                </a:lnTo>
                <a:lnTo>
                  <a:pt x="11489104" y="1132353"/>
                </a:lnTo>
                <a:lnTo>
                  <a:pt x="0" y="1132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08" t="-7496" b="-749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0071" y="5009082"/>
            <a:ext cx="12496300" cy="2988141"/>
          </a:xfrm>
          <a:custGeom>
            <a:avLst/>
            <a:gdLst/>
            <a:ahLst/>
            <a:cxnLst/>
            <a:rect l="l" t="t" r="r" b="b"/>
            <a:pathLst>
              <a:path w="12496300" h="2988141">
                <a:moveTo>
                  <a:pt x="0" y="0"/>
                </a:moveTo>
                <a:lnTo>
                  <a:pt x="12496301" y="0"/>
                </a:lnTo>
                <a:lnTo>
                  <a:pt x="12496301" y="2988141"/>
                </a:lnTo>
                <a:lnTo>
                  <a:pt x="0" y="2988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48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‹22›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427" y="2411748"/>
            <a:ext cx="10185537" cy="68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4133" u="sng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Avec un argument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 u="sng">
              <a:solidFill>
                <a:srgbClr val="962218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413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endParaRPr lang="en-US" sz="413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413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 envoie une valeur à la méthode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427" y="1000125"/>
            <a:ext cx="731172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</a:t>
            </a: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Methods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TextBox 8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‹23›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427" y="1000125"/>
            <a:ext cx="867746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Event Modifiers</a:t>
            </a: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Vue.js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28825"/>
            <a:ext cx="17054427" cy="674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201" lvl="1" indent="-349101" algn="l">
              <a:lnSpc>
                <a:spcPts val="3880"/>
              </a:lnSpc>
              <a:buFont typeface="Arial"/>
              <a:buChar char="•"/>
            </a:pP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Les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modificateurs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d’événements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permettent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contrôler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comment un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événement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fonctionne</a:t>
            </a:r>
            <a:endParaRPr lang="en-US" sz="3233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98201" lvl="1" indent="-349101" algn="l">
              <a:lnSpc>
                <a:spcPts val="3880"/>
              </a:lnSpc>
              <a:buFont typeface="Arial"/>
              <a:buChar char="•"/>
            </a:pP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ajoute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des options à</a:t>
            </a:r>
            <a:r>
              <a:rPr lang="en-US" sz="3233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v-on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pour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préciser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comment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réagir</a:t>
            </a:r>
            <a:r>
              <a:rPr lang="en-US" sz="32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à un </a:t>
            </a:r>
            <a:r>
              <a:rPr lang="en-US" sz="323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événement</a:t>
            </a:r>
            <a:endParaRPr lang="en-US" sz="3233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000"/>
              </a:lnSpc>
            </a:pPr>
            <a:r>
              <a:rPr lang="en-US" sz="3333" u="sng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Exemple</a:t>
            </a:r>
            <a:r>
              <a:rPr lang="en-US" sz="3333" u="sng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3333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000"/>
              </a:lnSpc>
            </a:pPr>
            <a:r>
              <a:rPr lang="en-US" sz="3333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&lt;button</a:t>
            </a: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33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v-on:click.once</a:t>
            </a:r>
            <a:r>
              <a:rPr lang="en-US" sz="3333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3333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"action"</a:t>
            </a:r>
            <a:r>
              <a:rPr lang="en-US" sz="3333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Cliquer</a:t>
            </a:r>
            <a:r>
              <a:rPr lang="en-US" sz="3333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&lt;/button&gt;</a:t>
            </a:r>
          </a:p>
          <a:p>
            <a:pPr algn="l">
              <a:lnSpc>
                <a:spcPts val="4000"/>
              </a:lnSpc>
            </a:pP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.once → </a:t>
            </a:r>
            <a:r>
              <a:rPr lang="en-US" sz="33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exécute</a:t>
            </a: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</a:t>
            </a:r>
            <a:r>
              <a:rPr lang="en-US" sz="33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fois</a:t>
            </a:r>
            <a:endParaRPr lang="en-US" sz="333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720"/>
              </a:lnSpc>
            </a:pPr>
            <a:endParaRPr lang="en-US" sz="333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120"/>
              </a:lnSpc>
            </a:pPr>
            <a:r>
              <a:rPr lang="en-US" sz="3433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Modificateurs</a:t>
            </a:r>
            <a:r>
              <a:rPr lang="en-US" sz="3433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433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utiles</a:t>
            </a:r>
            <a:r>
              <a:rPr lang="en-US" sz="3433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marL="741380" lvl="1" indent="-370690" algn="l">
              <a:lnSpc>
                <a:spcPts val="4120"/>
              </a:lnSpc>
              <a:buFont typeface="Arial"/>
              <a:buChar char="•"/>
            </a:pP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.once →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</a:t>
            </a: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fois</a:t>
            </a:r>
            <a:endParaRPr lang="en-US" sz="343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41380" lvl="1" indent="-370690" algn="l">
              <a:lnSpc>
                <a:spcPts val="4120"/>
              </a:lnSpc>
              <a:buFont typeface="Arial"/>
              <a:buChar char="•"/>
            </a:pP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.prevent →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empêche</a:t>
            </a: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comportement</a:t>
            </a: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défaut</a:t>
            </a:r>
            <a:endParaRPr lang="en-US" sz="343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41380" lvl="1" indent="-370690" algn="l">
              <a:lnSpc>
                <a:spcPts val="4120"/>
              </a:lnSpc>
              <a:buFont typeface="Arial"/>
              <a:buChar char="•"/>
            </a:pP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.enter → </a:t>
            </a:r>
            <a:r>
              <a:rPr lang="en-US" sz="343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touche</a:t>
            </a: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Entrée</a:t>
            </a:r>
          </a:p>
          <a:p>
            <a:pPr marL="741380" lvl="1" indent="-370690" algn="l">
              <a:lnSpc>
                <a:spcPts val="4120"/>
              </a:lnSpc>
              <a:buFont typeface="Arial"/>
              <a:buChar char="•"/>
            </a:pPr>
            <a:r>
              <a:rPr lang="en-US" sz="34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.ctrl / .shift / .alt → touches clavier</a:t>
            </a:r>
          </a:p>
          <a:p>
            <a:pPr algn="l">
              <a:lnSpc>
                <a:spcPts val="4720"/>
              </a:lnSpc>
              <a:spcBef>
                <a:spcPct val="0"/>
              </a:spcBef>
            </a:pPr>
            <a:endParaRPr lang="en-US" sz="343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TextBox 8"/>
          <p:cNvSpPr txBox="1"/>
          <p:nvPr/>
        </p:nvSpPr>
        <p:spPr>
          <a:xfrm>
            <a:off x="8686725" y="9278125"/>
            <a:ext cx="914550" cy="50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‹#›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4300" y="573100"/>
            <a:ext cx="17704200" cy="9690600"/>
            <a:chOff x="0" y="0"/>
            <a:chExt cx="23605600" cy="1292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AutoShape 11"/>
          <p:cNvSpPr/>
          <p:nvPr/>
        </p:nvSpPr>
        <p:spPr>
          <a:xfrm rot="5334776">
            <a:off x="16670919" y="52863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>
            <a:off x="898553" y="831526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9037950" y="573100"/>
            <a:ext cx="516900" cy="516900"/>
            <a:chOff x="0" y="0"/>
            <a:chExt cx="689200" cy="68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9766753" y="79342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6" name="AutoShape 16"/>
          <p:cNvSpPr/>
          <p:nvPr/>
        </p:nvSpPr>
        <p:spPr>
          <a:xfrm rot="17132">
            <a:off x="898603" y="97405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049250" y="9731026"/>
            <a:ext cx="764485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8" name="AutoShape 18"/>
          <p:cNvSpPr/>
          <p:nvPr/>
        </p:nvSpPr>
        <p:spPr>
          <a:xfrm rot="5334776">
            <a:off x="-63031" y="52863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9" name="TextBox 19"/>
          <p:cNvSpPr txBox="1"/>
          <p:nvPr/>
        </p:nvSpPr>
        <p:spPr>
          <a:xfrm>
            <a:off x="4384350" y="4354872"/>
            <a:ext cx="11329801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</a:pPr>
            <a:r>
              <a:rPr lang="en-US" sz="70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Forms+Data Binding</a:t>
            </a:r>
          </a:p>
          <a:p>
            <a:pPr algn="ctr">
              <a:lnSpc>
                <a:spcPts val="8445"/>
              </a:lnSpc>
            </a:pPr>
            <a:endParaRPr lang="en-US" sz="7037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238717" y="4397772"/>
            <a:ext cx="1787907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4"/>
              </a:lnSpc>
            </a:pPr>
            <a:r>
              <a:rPr lang="en-US" sz="699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21" name="AutoShape 21"/>
          <p:cNvSpPr/>
          <p:nvPr/>
        </p:nvSpPr>
        <p:spPr>
          <a:xfrm rot="10785209">
            <a:off x="3334495" y="597060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2" name="AutoShape 22"/>
          <p:cNvSpPr/>
          <p:nvPr/>
        </p:nvSpPr>
        <p:spPr>
          <a:xfrm flipH="1">
            <a:off x="3334650" y="3598722"/>
            <a:ext cx="11923500" cy="513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23" name="Group 23"/>
          <p:cNvGrpSpPr/>
          <p:nvPr/>
        </p:nvGrpSpPr>
        <p:grpSpPr>
          <a:xfrm>
            <a:off x="4768174" y="4696535"/>
            <a:ext cx="516900" cy="516900"/>
            <a:chOff x="0" y="0"/>
            <a:chExt cx="689200" cy="68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8885550" y="95167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‹24›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-5912169" y="1114425"/>
            <a:ext cx="1754175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 Vue Forms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‹25›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0125" y="2138415"/>
            <a:ext cx="16287675" cy="601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2"/>
              </a:lnSpc>
            </a:pPr>
            <a:endParaRPr dirty="0"/>
          </a:p>
          <a:p>
            <a:pPr algn="just">
              <a:lnSpc>
                <a:spcPts val="6492"/>
              </a:lnSpc>
            </a:pPr>
            <a:r>
              <a:rPr lang="en-US" sz="36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3647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47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Pourquoi</a:t>
            </a:r>
            <a:r>
              <a:rPr lang="en-US" sz="3647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les </a:t>
            </a:r>
            <a:r>
              <a:rPr lang="en-US" sz="3647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formulaires</a:t>
            </a:r>
            <a:r>
              <a:rPr lang="en-US" sz="3647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Vue ?</a:t>
            </a:r>
          </a:p>
          <a:p>
            <a:pPr algn="just">
              <a:lnSpc>
                <a:spcPts val="6492"/>
              </a:lnSpc>
            </a:pPr>
            <a:endParaRPr lang="en-US" sz="3647" b="1" dirty="0">
              <a:solidFill>
                <a:srgbClr val="96221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22712" lvl="1" indent="-361356" algn="l">
              <a:lnSpc>
                <a:spcPts val="5958"/>
              </a:lnSpc>
              <a:buFont typeface="Arial"/>
              <a:buChar char="•"/>
            </a:pPr>
            <a:r>
              <a:rPr lang="en-US" sz="3347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Approche</a:t>
            </a:r>
            <a:r>
              <a:rPr lang="en-US" sz="334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347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déclarative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33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Remplace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code </a:t>
            </a:r>
            <a:r>
              <a:rPr lang="en-US" sz="33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impératif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verbeux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3347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addEventListener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lecture </a:t>
            </a:r>
            <a:r>
              <a:rPr lang="en-US" sz="33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manuelle</a:t>
            </a:r>
            <a:r>
              <a:rPr lang="en-US" sz="33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  <a:p>
            <a:pPr marL="701122" lvl="1" indent="-350561" algn="l">
              <a:lnSpc>
                <a:spcPts val="5780"/>
              </a:lnSpc>
              <a:buFont typeface="Arial"/>
              <a:buChar char="•"/>
            </a:pPr>
            <a:r>
              <a:rPr lang="en-US" sz="3247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Synchronisation</a:t>
            </a:r>
            <a:r>
              <a:rPr lang="en-US" sz="324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47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automatique</a:t>
            </a:r>
            <a:r>
              <a:rPr lang="en-US" sz="324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L'état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47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(data)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et la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47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(template)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sont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liés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temps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réel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701122" lvl="1" indent="-350561" algn="l">
              <a:lnSpc>
                <a:spcPts val="5780"/>
              </a:lnSpc>
              <a:buFont typeface="Arial"/>
              <a:buChar char="•"/>
            </a:pPr>
            <a:r>
              <a:rPr lang="en-US" sz="324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Liaison </a:t>
            </a:r>
            <a:r>
              <a:rPr lang="en-US" sz="3247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bidirectionnelle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Le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mécanisme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central pour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maintenance </a:t>
            </a:r>
            <a:r>
              <a:rPr lang="en-US" sz="324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facilitée</a:t>
            </a:r>
            <a:r>
              <a:rPr lang="en-US" sz="324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781500" y="7812549"/>
            <a:ext cx="7104050" cy="1265595"/>
          </a:xfrm>
          <a:custGeom>
            <a:avLst/>
            <a:gdLst/>
            <a:ahLst/>
            <a:cxnLst/>
            <a:rect l="l" t="t" r="r" b="b"/>
            <a:pathLst>
              <a:path w="7104050" h="1265595">
                <a:moveTo>
                  <a:pt x="0" y="0"/>
                </a:moveTo>
                <a:lnTo>
                  <a:pt x="7104050" y="0"/>
                </a:lnTo>
                <a:lnTo>
                  <a:pt x="7104050" y="1265596"/>
                </a:lnTo>
                <a:lnTo>
                  <a:pt x="0" y="126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1129010" y="6481973"/>
            <a:ext cx="2253257" cy="1317513"/>
          </a:xfrm>
          <a:custGeom>
            <a:avLst/>
            <a:gdLst/>
            <a:ahLst/>
            <a:cxnLst/>
            <a:rect l="l" t="t" r="r" b="b"/>
            <a:pathLst>
              <a:path w="2253257" h="1317513">
                <a:moveTo>
                  <a:pt x="0" y="0"/>
                </a:moveTo>
                <a:lnTo>
                  <a:pt x="2253256" y="0"/>
                </a:lnTo>
                <a:lnTo>
                  <a:pt x="2253256" y="1317513"/>
                </a:lnTo>
                <a:lnTo>
                  <a:pt x="0" y="131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8" r="-558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0146172" y="7943734"/>
            <a:ext cx="6703847" cy="1314566"/>
          </a:xfrm>
          <a:custGeom>
            <a:avLst/>
            <a:gdLst/>
            <a:ahLst/>
            <a:cxnLst/>
            <a:rect l="l" t="t" r="r" b="b"/>
            <a:pathLst>
              <a:path w="6703847" h="1314566">
                <a:moveTo>
                  <a:pt x="0" y="0"/>
                </a:moveTo>
                <a:lnTo>
                  <a:pt x="6703848" y="0"/>
                </a:lnTo>
                <a:lnTo>
                  <a:pt x="6703848" y="1314566"/>
                </a:lnTo>
                <a:lnTo>
                  <a:pt x="0" y="1314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26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‹26›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250" y="1090644"/>
            <a:ext cx="10988550" cy="800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5"/>
              </a:lnSpc>
              <a:spcBef>
                <a:spcPct val="0"/>
              </a:spcBef>
            </a:pPr>
            <a:r>
              <a:rPr lang="en-US" sz="527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 Gestion des Types </a:t>
            </a:r>
            <a:r>
              <a:rPr lang="en-US" sz="5279" b="1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d'Entrees</a:t>
            </a:r>
            <a:endParaRPr lang="en-US" sz="5279" b="1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0" y="2449330"/>
            <a:ext cx="12586722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5"/>
              </a:lnSpc>
              <a:spcBef>
                <a:spcPct val="0"/>
              </a:spcBef>
            </a:pPr>
            <a:r>
              <a:rPr lang="en-US" sz="3720" b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2.2:Champs texte, email, password, textarea: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0888" y="2597695"/>
            <a:ext cx="15938412" cy="392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6"/>
              </a:lnSpc>
            </a:pPr>
            <a:endParaRPr dirty="0"/>
          </a:p>
          <a:p>
            <a:pPr marL="685160" lvl="1" indent="-342580" algn="l">
              <a:lnSpc>
                <a:spcPts val="5236"/>
              </a:lnSpc>
              <a:buFont typeface="Arial"/>
              <a:buChar char="•"/>
            </a:pP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Champs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textuels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Toujours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stockés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String native par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défaut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85160" lvl="1" indent="-342580" algn="l">
              <a:lnSpc>
                <a:spcPts val="5236"/>
              </a:lnSpc>
              <a:buFont typeface="Arial"/>
              <a:buChar char="•"/>
            </a:pP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valeur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initiale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dans </a:t>
            </a:r>
            <a:r>
              <a:rPr lang="en-US" sz="3173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data()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est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cruciale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elle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dicte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Vue comment le champ doit se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comporter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(Boolean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Tableau).</a:t>
            </a:r>
          </a:p>
          <a:p>
            <a:pPr marL="685160" lvl="1" indent="-342580" algn="l">
              <a:lnSpc>
                <a:spcPts val="5236"/>
              </a:lnSpc>
              <a:buFont typeface="Arial"/>
              <a:buChar char="•"/>
            </a:pPr>
            <a:r>
              <a:rPr lang="en-US" sz="3173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ATTENTION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Piège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Textarea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_ Ne jamais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mettre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entre les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balises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La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doit </a:t>
            </a:r>
            <a:r>
              <a:rPr lang="en-US" sz="3173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être</a:t>
            </a:r>
            <a:r>
              <a:rPr lang="en-US" sz="317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data().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1500" y="6654955"/>
            <a:ext cx="831473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type de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récuperé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 V-model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686645" y="6469969"/>
            <a:ext cx="7658025" cy="1399639"/>
          </a:xfrm>
          <a:custGeom>
            <a:avLst/>
            <a:gdLst/>
            <a:ahLst/>
            <a:cxnLst/>
            <a:rect l="l" t="t" r="r" b="b"/>
            <a:pathLst>
              <a:path w="7658025" h="1399639">
                <a:moveTo>
                  <a:pt x="0" y="0"/>
                </a:moveTo>
                <a:lnTo>
                  <a:pt x="7658025" y="0"/>
                </a:lnTo>
                <a:lnTo>
                  <a:pt x="7658025" y="1399639"/>
                </a:lnTo>
                <a:lnTo>
                  <a:pt x="0" y="1399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686645" y="4622119"/>
            <a:ext cx="15994019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33A158"/>
                </a:solidFill>
                <a:latin typeface="Arimo Bold"/>
                <a:ea typeface="Arimo Bold"/>
                <a:cs typeface="Arimo Bold"/>
                <a:sym typeface="Arimo Bold"/>
              </a:rPr>
              <a:t>💡Le petit </a:t>
            </a:r>
            <a:r>
              <a:rPr lang="en-US" sz="3199" b="1" dirty="0" err="1">
                <a:solidFill>
                  <a:srgbClr val="33A158"/>
                </a:solidFill>
                <a:latin typeface="Arimo Bold"/>
                <a:ea typeface="Arimo Bold"/>
                <a:cs typeface="Arimo Bold"/>
                <a:sym typeface="Arimo Bold"/>
              </a:rPr>
              <a:t>détail</a:t>
            </a:r>
            <a:r>
              <a:rPr lang="en-US" sz="3199" b="1" dirty="0">
                <a:solidFill>
                  <a:srgbClr val="33A158"/>
                </a:solidFill>
                <a:latin typeface="Arimo Bold"/>
                <a:ea typeface="Arimo Bold"/>
                <a:cs typeface="Arimo Bold"/>
                <a:sym typeface="Arimo Bold"/>
              </a:rPr>
              <a:t> qui change tout :</a:t>
            </a:r>
          </a:p>
          <a:p>
            <a:pPr algn="just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initiale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que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tu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mets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data()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cruciale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elle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dicte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Vue comment le  champ doit se </a:t>
            </a:r>
            <a:r>
              <a:rPr lang="en-US" sz="31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comporter</a:t>
            </a:r>
            <a:r>
              <a:rPr lang="en-US" sz="31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9896850" y="7869608"/>
            <a:ext cx="7089332" cy="1194580"/>
          </a:xfrm>
          <a:custGeom>
            <a:avLst/>
            <a:gdLst/>
            <a:ahLst/>
            <a:cxnLst/>
            <a:rect l="l" t="t" r="r" b="b"/>
            <a:pathLst>
              <a:path w="7089332" h="1194580">
                <a:moveTo>
                  <a:pt x="0" y="0"/>
                </a:moveTo>
                <a:lnTo>
                  <a:pt x="7089332" y="0"/>
                </a:lnTo>
                <a:lnTo>
                  <a:pt x="7089332" y="1194580"/>
                </a:lnTo>
                <a:lnTo>
                  <a:pt x="0" y="119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‹27›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3241" y="1284899"/>
            <a:ext cx="9018033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2.2 Checkboxes — Boolean et Array: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2023" y="1363401"/>
            <a:ext cx="13858155" cy="2863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28"/>
              </a:lnSpc>
            </a:pPr>
            <a:endParaRPr dirty="0"/>
          </a:p>
          <a:p>
            <a:pPr algn="l">
              <a:lnSpc>
                <a:spcPts val="5728"/>
              </a:lnSpc>
            </a:pPr>
            <a:r>
              <a:rPr lang="en-US" sz="3311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Checkboxes 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3311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déclaration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data():</a:t>
            </a:r>
          </a:p>
          <a:p>
            <a:pPr marL="714936" lvl="1" indent="-357468" algn="l">
              <a:lnSpc>
                <a:spcPts val="5728"/>
              </a:lnSpc>
              <a:buFont typeface="Arial"/>
              <a:buChar char="•"/>
            </a:pPr>
            <a:r>
              <a:rPr lang="en-US" sz="3311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3311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Liée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311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un Boolean.</a:t>
            </a:r>
          </a:p>
          <a:p>
            <a:pPr marL="714936" lvl="1" indent="-357468" algn="l">
              <a:lnSpc>
                <a:spcPts val="5728"/>
              </a:lnSpc>
              <a:buFont typeface="Arial"/>
              <a:buChar char="•"/>
            </a:pP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Multiples : </a:t>
            </a:r>
            <a:r>
              <a:rPr lang="en-US" sz="3311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Liées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311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un Array</a:t>
            </a:r>
            <a:r>
              <a:rPr lang="en-US" sz="331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(tableau).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7214741" y="5619913"/>
            <a:ext cx="10573446" cy="3872524"/>
          </a:xfrm>
          <a:custGeom>
            <a:avLst/>
            <a:gdLst/>
            <a:ahLst/>
            <a:cxnLst/>
            <a:rect l="l" t="t" r="r" b="b"/>
            <a:pathLst>
              <a:path w="10573446" h="3872524">
                <a:moveTo>
                  <a:pt x="0" y="0"/>
                </a:moveTo>
                <a:lnTo>
                  <a:pt x="10573446" y="0"/>
                </a:lnTo>
                <a:lnTo>
                  <a:pt x="10573446" y="3872525"/>
                </a:lnTo>
                <a:lnTo>
                  <a:pt x="0" y="3872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‹28›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200" y="1028700"/>
            <a:ext cx="7788200" cy="800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52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 Computed Properties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008" y="1966300"/>
            <a:ext cx="1165014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4.1 Principe : </a:t>
            </a:r>
            <a:r>
              <a:rPr lang="en-US" sz="41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valeur</a:t>
            </a:r>
            <a:r>
              <a:rPr lang="en-US" sz="4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1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derivée</a:t>
            </a:r>
            <a:r>
              <a:rPr lang="en-US" sz="4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et mise </a:t>
            </a:r>
            <a:r>
              <a:rPr lang="en-US" sz="41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en</a:t>
            </a:r>
            <a:r>
              <a:rPr lang="en-US" sz="4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cache: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7121" y="2408838"/>
            <a:ext cx="16739765" cy="259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endParaRPr dirty="0"/>
          </a:p>
          <a:p>
            <a:pPr marL="647698" lvl="1" indent="-323849" algn="l">
              <a:lnSpc>
                <a:spcPts val="524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Mise </a:t>
            </a:r>
            <a:r>
              <a:rPr lang="en-US" sz="29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</a:t>
            </a: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cache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Le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résultat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stocké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et ne se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recalcule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que</a:t>
            </a:r>
            <a:r>
              <a:rPr lang="en-US" sz="2999" u="sng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b="1" u="sng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si</a:t>
            </a:r>
            <a:r>
              <a:rPr lang="en-US" sz="2999" b="1" u="sng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u="sng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ses</a:t>
            </a:r>
            <a:r>
              <a:rPr lang="en-US" sz="2999" b="1" u="sng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u="sng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dépendances</a:t>
            </a:r>
            <a:r>
              <a:rPr lang="en-US" sz="2999" b="1" u="sng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u="sng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changent</a:t>
            </a:r>
            <a:r>
              <a:rPr lang="en-US" sz="2999" b="1" u="sng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marL="647698" lvl="1" indent="-323849" algn="l">
              <a:lnSpc>
                <a:spcPts val="524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Performance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Évite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l'exécution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inutile 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fonctions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lors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du re-render du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47698" lvl="1" indent="-323849" algn="l">
              <a:lnSpc>
                <a:spcPts val="524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Tracking intelligent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Vue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</a:t>
            </a:r>
            <a:r>
              <a:rPr lang="en-US" sz="2999" b="1" dirty="0">
                <a:solidFill>
                  <a:srgbClr val="CB6CE6"/>
                </a:solidFill>
                <a:latin typeface="Arimo Bold"/>
                <a:ea typeface="Arimo Bold"/>
                <a:cs typeface="Arimo Bold"/>
                <a:sym typeface="Arimo Bold"/>
              </a:rPr>
              <a:t> Proxies ES6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surveiller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sources.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8235" y="5639113"/>
            <a:ext cx="5351597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filtrage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livres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préfèrés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028700" y="6269196"/>
            <a:ext cx="3348734" cy="1723135"/>
          </a:xfrm>
          <a:custGeom>
            <a:avLst/>
            <a:gdLst/>
            <a:ahLst/>
            <a:cxnLst/>
            <a:rect l="l" t="t" r="r" b="b"/>
            <a:pathLst>
              <a:path w="3348734" h="1723135">
                <a:moveTo>
                  <a:pt x="0" y="0"/>
                </a:moveTo>
                <a:lnTo>
                  <a:pt x="3348734" y="0"/>
                </a:lnTo>
                <a:lnTo>
                  <a:pt x="3348734" y="1723135"/>
                </a:lnTo>
                <a:lnTo>
                  <a:pt x="0" y="172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4928957" y="6269196"/>
            <a:ext cx="11291814" cy="3161864"/>
          </a:xfrm>
          <a:custGeom>
            <a:avLst/>
            <a:gdLst/>
            <a:ahLst/>
            <a:cxnLst/>
            <a:rect l="l" t="t" r="r" b="b"/>
            <a:pathLst>
              <a:path w="11291814" h="3161864">
                <a:moveTo>
                  <a:pt x="0" y="0"/>
                </a:moveTo>
                <a:lnTo>
                  <a:pt x="11291814" y="0"/>
                </a:lnTo>
                <a:lnTo>
                  <a:pt x="11291814" y="3161864"/>
                </a:lnTo>
                <a:lnTo>
                  <a:pt x="0" y="3161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46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746250" y="1059940"/>
            <a:ext cx="4587750" cy="75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5:Watchers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667" y="1956622"/>
            <a:ext cx="10339933" cy="625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sz="4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5.1 watch() — Surveillance </a:t>
            </a:r>
            <a:r>
              <a:rPr lang="en-US" sz="42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explicite</a:t>
            </a:r>
            <a:r>
              <a:rPr lang="en-US" sz="4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150" y="5697696"/>
            <a:ext cx="15192050" cy="408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7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sauvegarder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nom de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l'utilisateur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le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navigateur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chaque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fois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qu'il</a:t>
            </a:r>
            <a:r>
              <a:rPr lang="en-US" sz="27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</a:t>
            </a:r>
            <a:r>
              <a:rPr lang="en-US" sz="27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modifie</a:t>
            </a:r>
            <a:endParaRPr lang="en-US" sz="27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86425" y="2697321"/>
            <a:ext cx="17020850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64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surveiller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explicitement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changements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d’une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propriété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</a:t>
            </a:r>
            <a:r>
              <a:rPr lang="en-US" sz="2999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data()</a:t>
            </a:r>
          </a:p>
          <a:p>
            <a:pPr marL="647698" lvl="1" indent="-323849" algn="l">
              <a:lnSpc>
                <a:spcPts val="464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Dédié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aux</a:t>
            </a:r>
            <a:r>
              <a:rPr lang="en-US" sz="2999" dirty="0">
                <a:solidFill>
                  <a:srgbClr val="FF66C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FF66C4"/>
                </a:solidFill>
                <a:latin typeface="Arimo"/>
                <a:ea typeface="Arimo"/>
                <a:cs typeface="Arimo"/>
                <a:sym typeface="Arimo"/>
              </a:rPr>
              <a:t>effets</a:t>
            </a:r>
            <a:r>
              <a:rPr lang="en-US" sz="2999" dirty="0">
                <a:solidFill>
                  <a:srgbClr val="FF66C4"/>
                </a:solidFill>
                <a:latin typeface="Arimo"/>
                <a:ea typeface="Arimo"/>
                <a:cs typeface="Arimo"/>
                <a:sym typeface="Arimo"/>
              </a:rPr>
              <a:t> de bord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(side effects)</a:t>
            </a:r>
          </a:p>
          <a:p>
            <a:pPr marL="647698" lvl="1" indent="-323849" algn="l">
              <a:lnSpc>
                <a:spcPts val="464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2999" b="1" u="sng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déclencher</a:t>
            </a:r>
            <a:r>
              <a:rPr lang="en-US" sz="2999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des actions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après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modification 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l’état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47698" lvl="1" indent="-323849" algn="l">
              <a:lnSpc>
                <a:spcPts val="464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Utile pour </a:t>
            </a:r>
            <a:r>
              <a:rPr lang="en-US" sz="2999" dirty="0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des actions </a:t>
            </a:r>
            <a:r>
              <a:rPr lang="en-US" sz="2999" dirty="0" err="1">
                <a:solidFill>
                  <a:srgbClr val="CB6CE6"/>
                </a:solidFill>
                <a:latin typeface="Arimo"/>
                <a:ea typeface="Arimo"/>
                <a:cs typeface="Arimo"/>
                <a:sym typeface="Arimo"/>
              </a:rPr>
              <a:t>asynchrones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externes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Vue</a:t>
            </a:r>
          </a:p>
          <a:p>
            <a:pPr marL="647698" lvl="1" indent="-323849" algn="l">
              <a:lnSpc>
                <a:spcPts val="464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Joue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rôle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pont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entre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l’état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réactif</a:t>
            </a:r>
            <a:r>
              <a:rPr lang="en-US" sz="2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et le monde </a:t>
            </a:r>
            <a:r>
              <a:rPr lang="en-US" sz="29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extérieur</a:t>
            </a:r>
            <a:endParaRPr lang="en-US" sz="2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‹29›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‹30›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34302"/>
            <a:ext cx="16436577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3C63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Stratégies de gestion des données : Comparatif Computed vs Methods vs Watchers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C7F37A3-8810-4DDC-9F35-5D2A7CC84C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28"/>
          <a:stretch/>
        </p:blipFill>
        <p:spPr>
          <a:xfrm>
            <a:off x="1719363" y="2365815"/>
            <a:ext cx="13934724" cy="67019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4207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5334776">
            <a:off x="16518519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5" name="AutoShape 5"/>
          <p:cNvSpPr/>
          <p:nvPr/>
        </p:nvSpPr>
        <p:spPr>
          <a:xfrm>
            <a:off x="746153" y="679126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AutoShape 8"/>
          <p:cNvSpPr/>
          <p:nvPr/>
        </p:nvSpPr>
        <p:spPr>
          <a:xfrm>
            <a:off x="9614353" y="64102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AutoShape 11"/>
          <p:cNvSpPr/>
          <p:nvPr/>
        </p:nvSpPr>
        <p:spPr>
          <a:xfrm rot="5334776">
            <a:off x="-215431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4324410" y="3764987"/>
            <a:ext cx="11461367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Les composants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7474" y="3764987"/>
            <a:ext cx="2196750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4" name="AutoShape 14"/>
          <p:cNvSpPr/>
          <p:nvPr/>
        </p:nvSpPr>
        <p:spPr>
          <a:xfrm rot="10785209">
            <a:off x="3182095" y="581820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5" name="AutoShape 15"/>
          <p:cNvSpPr/>
          <p:nvPr/>
        </p:nvSpPr>
        <p:spPr>
          <a:xfrm rot="10785209">
            <a:off x="3182095" y="342575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6" name="Group 16"/>
          <p:cNvGrpSpPr/>
          <p:nvPr/>
        </p:nvGrpSpPr>
        <p:grpSpPr>
          <a:xfrm>
            <a:off x="4615774" y="4292350"/>
            <a:ext cx="516900" cy="516900"/>
            <a:chOff x="0" y="0"/>
            <a:chExt cx="689200" cy="6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8686725" y="93643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‹31›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12475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778575" y="1218438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 Qu’est ce qu’un composant?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1328" y="2390013"/>
            <a:ext cx="15225150" cy="172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5278" lvl="1" indent="-562639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bloc de code qui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peut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être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réutilisé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plusieurs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endroits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Il encapsule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logique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son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rendu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et son style.</a:t>
            </a:r>
          </a:p>
          <a:p>
            <a:pPr algn="l">
              <a:lnSpc>
                <a:spcPts val="4553"/>
              </a:lnSpc>
            </a:pPr>
            <a:endParaRPr lang="en-US" sz="32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‹32›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328" y="4029075"/>
            <a:ext cx="15225150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5278" lvl="1" indent="-562639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souvent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utilisés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découper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l’interface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petites parties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indépendantes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200" y="6135625"/>
            <a:ext cx="15225150" cy="286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endParaRPr dirty="0"/>
          </a:p>
          <a:p>
            <a:pPr algn="l">
              <a:lnSpc>
                <a:spcPts val="4553"/>
              </a:lnSpc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</a:t>
            </a:r>
            <a:r>
              <a:rPr lang="en-US" sz="32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&lt;template&gt;&lt;/template&gt; </a:t>
            </a:r>
          </a:p>
          <a:p>
            <a:pPr algn="l">
              <a:lnSpc>
                <a:spcPts val="4553"/>
              </a:lnSpc>
            </a:pPr>
            <a:r>
              <a:rPr lang="en-US" sz="32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       &lt;script&gt;&lt;/script&gt; </a:t>
            </a:r>
          </a:p>
          <a:p>
            <a:pPr algn="l">
              <a:lnSpc>
                <a:spcPts val="4553"/>
              </a:lnSpc>
            </a:pPr>
            <a:r>
              <a:rPr lang="en-US" sz="3299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       &lt;style&gt;&lt;/style&gt; </a:t>
            </a:r>
          </a:p>
          <a:p>
            <a:pPr algn="l">
              <a:lnSpc>
                <a:spcPts val="4553"/>
              </a:lnSpc>
            </a:pPr>
            <a:endParaRPr lang="en-US" sz="3299" dirty="0">
              <a:solidFill>
                <a:srgbClr val="FF313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41328" y="5639562"/>
            <a:ext cx="15225150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5278" lvl="1" indent="-562639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Il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composé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850" y="4207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>
            <a:off x="746153" y="970852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896847" y="972757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686675" y="9485400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‹33›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2306" y="3389986"/>
            <a:ext cx="8320144" cy="3781131"/>
          </a:xfrm>
          <a:custGeom>
            <a:avLst/>
            <a:gdLst/>
            <a:ahLst/>
            <a:cxnLst/>
            <a:rect l="l" t="t" r="r" b="b"/>
            <a:pathLst>
              <a:path w="8320144" h="3781131">
                <a:moveTo>
                  <a:pt x="0" y="0"/>
                </a:moveTo>
                <a:lnTo>
                  <a:pt x="8320144" y="0"/>
                </a:lnTo>
                <a:lnTo>
                  <a:pt x="8320144" y="3781131"/>
                </a:lnTo>
                <a:lnTo>
                  <a:pt x="0" y="3781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9281025" y="3280248"/>
            <a:ext cx="8715075" cy="3890870"/>
          </a:xfrm>
          <a:custGeom>
            <a:avLst/>
            <a:gdLst/>
            <a:ahLst/>
            <a:cxnLst/>
            <a:rect l="l" t="t" r="r" b="b"/>
            <a:pathLst>
              <a:path w="8715075" h="3890870">
                <a:moveTo>
                  <a:pt x="0" y="0"/>
                </a:moveTo>
                <a:lnTo>
                  <a:pt x="8715075" y="0"/>
                </a:lnTo>
                <a:lnTo>
                  <a:pt x="8715075" y="3890869"/>
                </a:lnTo>
                <a:lnTo>
                  <a:pt x="0" y="3890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0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746153" y="1313536"/>
            <a:ext cx="15002606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4"/>
              </a:lnSpc>
            </a:pPr>
            <a:r>
              <a:rPr lang="en-US" sz="591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 Comment créer un composant?</a:t>
            </a:r>
          </a:p>
          <a:p>
            <a:pPr algn="l">
              <a:lnSpc>
                <a:spcPts val="7094"/>
              </a:lnSpc>
            </a:pPr>
            <a:endParaRPr lang="en-US" sz="5912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7094"/>
              </a:lnSpc>
            </a:pPr>
            <a:endParaRPr lang="en-US" sz="5912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675611"/>
            <a:ext cx="405285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1.Composant global: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1025" y="2675611"/>
            <a:ext cx="405285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2.Composant local: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896" y="7828342"/>
            <a:ext cx="1504031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140" lvl="1" indent="-357570" algn="l">
              <a:lnSpc>
                <a:spcPts val="3974"/>
              </a:lnSpc>
              <a:buFont typeface="Arial"/>
              <a:buChar char="•"/>
            </a:pP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utilisé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comme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balise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un </a:t>
            </a:r>
            <a:r>
              <a:rPr lang="en-US" sz="331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3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parent: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9845" y="8590342"/>
            <a:ext cx="797137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  <a:spcBef>
                <a:spcPct val="0"/>
              </a:spcBef>
            </a:pPr>
            <a:r>
              <a:rPr lang="en-US" sz="3173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&lt;template&gt;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&lt;food-item/&gt;</a:t>
            </a:r>
            <a:r>
              <a:rPr lang="en-US" sz="317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173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&lt;/template&gt;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4" name="AutoShape 4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Freeform 6"/>
          <p:cNvSpPr/>
          <p:nvPr/>
        </p:nvSpPr>
        <p:spPr>
          <a:xfrm>
            <a:off x="1789875" y="3934165"/>
            <a:ext cx="5363839" cy="3480199"/>
          </a:xfrm>
          <a:custGeom>
            <a:avLst/>
            <a:gdLst/>
            <a:ahLst/>
            <a:cxnLst/>
            <a:rect l="l" t="t" r="r" b="b"/>
            <a:pathLst>
              <a:path w="5363839" h="3480199">
                <a:moveTo>
                  <a:pt x="0" y="0"/>
                </a:moveTo>
                <a:lnTo>
                  <a:pt x="5363839" y="0"/>
                </a:lnTo>
                <a:lnTo>
                  <a:pt x="5363839" y="3480200"/>
                </a:lnTo>
                <a:lnTo>
                  <a:pt x="0" y="34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842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9144000" y="3572411"/>
            <a:ext cx="8101125" cy="3846331"/>
          </a:xfrm>
          <a:custGeom>
            <a:avLst/>
            <a:gdLst/>
            <a:ahLst/>
            <a:cxnLst/>
            <a:rect l="l" t="t" r="r" b="b"/>
            <a:pathLst>
              <a:path w="8101125" h="3846331">
                <a:moveTo>
                  <a:pt x="0" y="0"/>
                </a:moveTo>
                <a:lnTo>
                  <a:pt x="8101125" y="0"/>
                </a:lnTo>
                <a:lnTo>
                  <a:pt x="8101125" y="3846331"/>
                </a:lnTo>
                <a:lnTo>
                  <a:pt x="0" y="3846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" r="-7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909025"/>
            <a:ext cx="1522515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 Les props (les propriétés):</a:t>
            </a:r>
          </a:p>
          <a:p>
            <a:pPr algn="l">
              <a:lnSpc>
                <a:spcPts val="7200"/>
              </a:lnSpc>
            </a:pPr>
            <a:endParaRPr lang="en-US" sz="60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051263"/>
            <a:ext cx="15225150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8" lvl="1" indent="-356234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props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permettent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passer des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un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875942"/>
            <a:ext cx="15225150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8" lvl="1" indent="-356234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props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utilisés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attribut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le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parent: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9875" y="3090250"/>
            <a:ext cx="3915916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4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1:Tableau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5550" y="3090250"/>
            <a:ext cx="4168600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2:Objet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9875" y="8543696"/>
            <a:ext cx="15225150" cy="56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&lt;</a:t>
            </a:r>
            <a:r>
              <a:rPr lang="en-US" sz="3199" b="1" dirty="0">
                <a:solidFill>
                  <a:srgbClr val="33A158"/>
                </a:solidFill>
                <a:latin typeface="Arimo Bold"/>
                <a:ea typeface="Arimo Bold"/>
                <a:cs typeface="Arimo Bold"/>
                <a:sym typeface="Arimo Bold"/>
              </a:rPr>
              <a:t>food-item </a:t>
            </a:r>
            <a:r>
              <a:rPr lang="en-US" sz="31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food-name</a:t>
            </a:r>
            <a:r>
              <a:rPr lang="en-US" sz="3199" b="1" dirty="0">
                <a:solidFill>
                  <a:srgbClr val="30356E"/>
                </a:solidFill>
                <a:latin typeface="Arimo Bold"/>
                <a:ea typeface="Arimo Bold"/>
                <a:cs typeface="Arimo Bold"/>
                <a:sym typeface="Arimo Bold"/>
              </a:rPr>
              <a:t> = </a:t>
            </a:r>
            <a:r>
              <a:rPr lang="en-US" sz="3199" b="1" dirty="0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"Rice"</a:t>
            </a:r>
            <a:r>
              <a:rPr lang="en-US" sz="31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8686725" y="93643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‹34›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Freeform 10"/>
          <p:cNvSpPr/>
          <p:nvPr/>
        </p:nvSpPr>
        <p:spPr>
          <a:xfrm>
            <a:off x="1182472" y="3307042"/>
            <a:ext cx="17105528" cy="2570683"/>
          </a:xfrm>
          <a:custGeom>
            <a:avLst/>
            <a:gdLst/>
            <a:ahLst/>
            <a:cxnLst/>
            <a:rect l="l" t="t" r="r" b="b"/>
            <a:pathLst>
              <a:path w="17428756" h="2570683">
                <a:moveTo>
                  <a:pt x="0" y="0"/>
                </a:moveTo>
                <a:lnTo>
                  <a:pt x="17428756" y="0"/>
                </a:lnTo>
                <a:lnTo>
                  <a:pt x="17428756" y="2570683"/>
                </a:lnTo>
                <a:lnTo>
                  <a:pt x="0" y="257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‹35›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1425" y="2182330"/>
            <a:ext cx="15225150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v-bind pour passer des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valeurs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type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différent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string,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7234" y="1339368"/>
            <a:ext cx="2971800" cy="571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Remarque: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789875" y="4238244"/>
            <a:ext cx="12026587" cy="172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553"/>
              </a:lnSpc>
              <a:buFont typeface="Arial"/>
              <a:buChar char="•"/>
            </a:pPr>
            <a:r>
              <a:rPr lang="en-US" sz="32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$emit(</a:t>
            </a:r>
            <a:r>
              <a:rPr lang="en-US" sz="32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"nom-</a:t>
            </a:r>
            <a:r>
              <a:rPr lang="en-US" sz="3299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evenement</a:t>
            </a:r>
            <a:r>
              <a:rPr lang="en-US" sz="32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", </a:t>
            </a:r>
            <a:r>
              <a:rPr lang="en-US" sz="3299" dirty="0" err="1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donnée_optionnelle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</a:p>
          <a:p>
            <a:pPr algn="l">
              <a:lnSpc>
                <a:spcPts val="4553"/>
              </a:lnSpc>
            </a:pPr>
            <a:endParaRPr lang="en-US" sz="32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553"/>
              </a:lnSpc>
            </a:pPr>
            <a:endParaRPr lang="en-US" sz="32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74150" y="1029729"/>
            <a:ext cx="1522515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4 $emit( )/emits[ ]:</a:t>
            </a:r>
          </a:p>
          <a:p>
            <a:pPr algn="l">
              <a:lnSpc>
                <a:spcPts val="7200"/>
              </a:lnSpc>
            </a:pPr>
            <a:endParaRPr lang="en-US" sz="60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89875" y="2925204"/>
            <a:ext cx="15225150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méthode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$emit()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créer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personnalisé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dans le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enfant et le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transmettre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au parent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‹36›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5118068" y="2296554"/>
            <a:ext cx="1522515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1.$emit():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4150" y="5669167"/>
            <a:ext cx="296647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2.emits [ ]:</a:t>
            </a:r>
          </a:p>
          <a:p>
            <a:pPr algn="ctr">
              <a:lnSpc>
                <a:spcPts val="4439"/>
              </a:lnSpc>
              <a:spcBef>
                <a:spcPct val="0"/>
              </a:spcBef>
            </a:pPr>
            <a:endParaRPr lang="en-US" sz="3699" b="1" dirty="0">
              <a:solidFill>
                <a:srgbClr val="96221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89875" y="6360110"/>
            <a:ext cx="15225150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553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propriété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emits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déclarer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explicitement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quels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événements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peut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émettre</a:t>
            </a:r>
            <a:endParaRPr lang="en-US" sz="32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89875" y="7675322"/>
            <a:ext cx="15225150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553"/>
              </a:lnSpc>
              <a:buFont typeface="Arial"/>
              <a:buChar char="•"/>
            </a:pPr>
            <a:r>
              <a:rPr lang="en-US" sz="32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emits: [</a:t>
            </a:r>
            <a:r>
              <a:rPr lang="en-US" sz="32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'evenement1', 'evenement2', 'evenement3', ...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  <a:p>
            <a:pPr algn="l">
              <a:lnSpc>
                <a:spcPts val="4553"/>
              </a:lnSpc>
            </a:pPr>
            <a:endParaRPr lang="en-US" sz="32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3993987" y="7300652"/>
            <a:ext cx="8185839" cy="753568"/>
          </a:xfrm>
          <a:custGeom>
            <a:avLst/>
            <a:gdLst/>
            <a:ahLst/>
            <a:cxnLst/>
            <a:rect l="l" t="t" r="r" b="b"/>
            <a:pathLst>
              <a:path w="8185839" h="753568">
                <a:moveTo>
                  <a:pt x="0" y="0"/>
                </a:moveTo>
                <a:lnTo>
                  <a:pt x="8185839" y="0"/>
                </a:lnTo>
                <a:lnTo>
                  <a:pt x="8185839" y="753568"/>
                </a:lnTo>
                <a:lnTo>
                  <a:pt x="0" y="753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20" t="-462694" r="-23860" b="-7265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028700" y="4111765"/>
            <a:ext cx="10145665" cy="2365795"/>
          </a:xfrm>
          <a:custGeom>
            <a:avLst/>
            <a:gdLst/>
            <a:ahLst/>
            <a:cxnLst/>
            <a:rect l="l" t="t" r="r" b="b"/>
            <a:pathLst>
              <a:path w="10145665" h="2365795">
                <a:moveTo>
                  <a:pt x="0" y="0"/>
                </a:moveTo>
                <a:lnTo>
                  <a:pt x="10145665" y="0"/>
                </a:lnTo>
                <a:lnTo>
                  <a:pt x="10145665" y="2365795"/>
                </a:lnTo>
                <a:lnTo>
                  <a:pt x="0" y="2365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5517" r="-43539" b="-8617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4251746" y="8149470"/>
            <a:ext cx="8653885" cy="1321364"/>
          </a:xfrm>
          <a:custGeom>
            <a:avLst/>
            <a:gdLst/>
            <a:ahLst/>
            <a:cxnLst/>
            <a:rect l="l" t="t" r="r" b="b"/>
            <a:pathLst>
              <a:path w="8653885" h="1321364">
                <a:moveTo>
                  <a:pt x="0" y="0"/>
                </a:moveTo>
                <a:lnTo>
                  <a:pt x="8653885" y="0"/>
                </a:lnTo>
                <a:lnTo>
                  <a:pt x="8653885" y="1321363"/>
                </a:lnTo>
                <a:lnTo>
                  <a:pt x="0" y="1321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59" t="-50192" b="-7903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2524899" y="2781841"/>
            <a:ext cx="11993342" cy="626170"/>
          </a:xfrm>
          <a:custGeom>
            <a:avLst/>
            <a:gdLst/>
            <a:ahLst/>
            <a:cxnLst/>
            <a:rect l="l" t="t" r="r" b="b"/>
            <a:pathLst>
              <a:path w="11993342" h="626170">
                <a:moveTo>
                  <a:pt x="0" y="0"/>
                </a:moveTo>
                <a:lnTo>
                  <a:pt x="11993342" y="0"/>
                </a:lnTo>
                <a:lnTo>
                  <a:pt x="11993342" y="626169"/>
                </a:lnTo>
                <a:lnTo>
                  <a:pt x="0" y="62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079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966113" y="1286416"/>
            <a:ext cx="1522515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Exemple:</a:t>
            </a:r>
          </a:p>
          <a:p>
            <a:pPr algn="l">
              <a:lnSpc>
                <a:spcPts val="5400"/>
              </a:lnSpc>
            </a:pPr>
            <a:endParaRPr lang="en-US" sz="45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‹37›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4725" y="2243487"/>
            <a:ext cx="16513100" cy="10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1.L’utilisateur clique le bouton favorite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en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déclenchant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l’événement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click qui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reçoit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méthode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4861" y="3643297"/>
            <a:ext cx="14627655" cy="5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2.La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méthode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envoie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un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événement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et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donnée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du nom du plat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vers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le parent: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4861" y="6775162"/>
            <a:ext cx="15664977" cy="10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3.Le parent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reçoie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l’événement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 qui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déclenchera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une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méthode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ayant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99" b="1" dirty="0" err="1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comme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argument le nom du plat</a:t>
            </a:r>
            <a:r>
              <a:rPr lang="en-US" sz="2899" dirty="0">
                <a:solidFill>
                  <a:srgbClr val="96221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2982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AutoShape 7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Freeform 10"/>
          <p:cNvSpPr/>
          <p:nvPr/>
        </p:nvSpPr>
        <p:spPr>
          <a:xfrm>
            <a:off x="1028700" y="6550196"/>
            <a:ext cx="16219832" cy="2828241"/>
          </a:xfrm>
          <a:custGeom>
            <a:avLst/>
            <a:gdLst/>
            <a:ahLst/>
            <a:cxnLst/>
            <a:rect l="l" t="t" r="r" b="b"/>
            <a:pathLst>
              <a:path w="16219832" h="2828241">
                <a:moveTo>
                  <a:pt x="0" y="0"/>
                </a:moveTo>
                <a:lnTo>
                  <a:pt x="16219832" y="0"/>
                </a:lnTo>
                <a:lnTo>
                  <a:pt x="16219832" y="2828241"/>
                </a:lnTo>
                <a:lnTo>
                  <a:pt x="0" y="282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76" r="-2714" b="-657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‹38›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5632" y="1077039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8:Composants dynamiques: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8575" y="2391489"/>
            <a:ext cx="152251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395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dynamiques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permettent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changer de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affiché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dynamiquement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sans quitter la page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0616" y="3749104"/>
            <a:ext cx="15983668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Syntaxe</a:t>
            </a:r>
            <a:r>
              <a:rPr lang="en-US" sz="32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sz="32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&lt;</a:t>
            </a:r>
            <a:r>
              <a:rPr lang="en-US" sz="32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keepAlive</a:t>
            </a:r>
            <a:r>
              <a:rPr lang="en-US" sz="32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  <a:r>
              <a:rPr lang="en-US" sz="32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395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&lt;component </a:t>
            </a:r>
            <a:r>
              <a:rPr lang="en-US" sz="3299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v-bind</a:t>
            </a:r>
            <a:r>
              <a:rPr lang="en-US" sz="3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99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is </a:t>
            </a:r>
            <a:r>
              <a:rPr lang="en-US" sz="3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= </a:t>
            </a:r>
            <a:r>
              <a:rPr lang="en-US" sz="3299" b="1" dirty="0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"</a:t>
            </a:r>
            <a:r>
              <a:rPr lang="en-US" sz="3299" b="1" dirty="0" err="1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nomComposant</a:t>
            </a:r>
            <a:r>
              <a:rPr lang="en-US" sz="3299" b="1" dirty="0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"</a:t>
            </a:r>
            <a:r>
              <a:rPr lang="en-US" sz="3299" b="1" dirty="0">
                <a:solidFill>
                  <a:srgbClr val="962218"/>
                </a:solidFill>
                <a:latin typeface="Arimo Bold"/>
                <a:ea typeface="Arimo Bold"/>
                <a:cs typeface="Arimo Bold"/>
                <a:sym typeface="Arimo Bold"/>
              </a:rPr>
              <a:t>&gt;&lt;/component&gt;  </a:t>
            </a:r>
          </a:p>
          <a:p>
            <a:pPr algn="l">
              <a:lnSpc>
                <a:spcPts val="395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&lt;/</a:t>
            </a:r>
            <a:r>
              <a:rPr lang="en-US" sz="32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keepAlive</a:t>
            </a:r>
            <a:r>
              <a:rPr lang="en-US" sz="32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0616" y="5796959"/>
            <a:ext cx="1979652" cy="5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32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900" y="420700"/>
            <a:ext cx="17704200" cy="9690600"/>
            <a:chOff x="0" y="0"/>
            <a:chExt cx="23605600" cy="1292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05617" cy="12920853"/>
            </a:xfrm>
            <a:custGeom>
              <a:avLst/>
              <a:gdLst/>
              <a:ahLst/>
              <a:cxnLst/>
              <a:rect l="l" t="t" r="r" b="b"/>
              <a:pathLst>
                <a:path w="23605617" h="12920853">
                  <a:moveTo>
                    <a:pt x="0" y="0"/>
                  </a:moveTo>
                  <a:lnTo>
                    <a:pt x="23605617" y="0"/>
                  </a:lnTo>
                  <a:lnTo>
                    <a:pt x="23605617" y="12920853"/>
                  </a:lnTo>
                  <a:lnTo>
                    <a:pt x="0" y="129208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5334776">
            <a:off x="16518519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5" name="AutoShape 5"/>
          <p:cNvSpPr/>
          <p:nvPr/>
        </p:nvSpPr>
        <p:spPr>
          <a:xfrm>
            <a:off x="746153" y="679126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AutoShape 8"/>
          <p:cNvSpPr/>
          <p:nvPr/>
        </p:nvSpPr>
        <p:spPr>
          <a:xfrm>
            <a:off x="9614353" y="64102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AutoShape 11"/>
          <p:cNvSpPr/>
          <p:nvPr/>
        </p:nvSpPr>
        <p:spPr>
          <a:xfrm rot="5334776">
            <a:off x="-215431" y="5133975"/>
            <a:ext cx="20082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4482236" y="3764987"/>
            <a:ext cx="11461367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avancé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9652" y="3764987"/>
            <a:ext cx="2196750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4" name="AutoShape 14"/>
          <p:cNvSpPr/>
          <p:nvPr/>
        </p:nvSpPr>
        <p:spPr>
          <a:xfrm rot="10785209">
            <a:off x="3182095" y="581820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5" name="AutoShape 15"/>
          <p:cNvSpPr/>
          <p:nvPr/>
        </p:nvSpPr>
        <p:spPr>
          <a:xfrm rot="10785209">
            <a:off x="3182095" y="3425757"/>
            <a:ext cx="119236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6" name="Group 16"/>
          <p:cNvGrpSpPr/>
          <p:nvPr/>
        </p:nvGrpSpPr>
        <p:grpSpPr>
          <a:xfrm>
            <a:off x="5926402" y="4292350"/>
            <a:ext cx="516900" cy="516900"/>
            <a:chOff x="0" y="0"/>
            <a:chExt cx="689200" cy="6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8699803" y="94024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‹39›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TextBox 8"/>
          <p:cNvSpPr txBox="1"/>
          <p:nvPr/>
        </p:nvSpPr>
        <p:spPr>
          <a:xfrm>
            <a:off x="1661936" y="2354219"/>
            <a:ext cx="11079760" cy="20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1"/>
              </a:lnSpc>
            </a:pPr>
            <a:endParaRPr dirty="0"/>
          </a:p>
          <a:p>
            <a:pPr algn="ctr">
              <a:lnSpc>
                <a:spcPts val="4321"/>
              </a:lnSpc>
            </a:pPr>
            <a:endParaRPr dirty="0"/>
          </a:p>
          <a:p>
            <a:pPr algn="ctr">
              <a:lnSpc>
                <a:spcPts val="3730"/>
              </a:lnSpc>
              <a:spcBef>
                <a:spcPct val="0"/>
              </a:spcBef>
            </a:pPr>
            <a:r>
              <a:rPr lang="en-US" sz="3108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Dans Vue</a:t>
            </a:r>
            <a:r>
              <a:rPr lang="en-US" sz="310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on </a:t>
            </a:r>
            <a:r>
              <a:rPr lang="en-US" sz="310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310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0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souvent</a:t>
            </a:r>
            <a:r>
              <a:rPr lang="en-US" sz="310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GET pour </a:t>
            </a:r>
            <a:r>
              <a:rPr lang="en-US" sz="310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récupérer</a:t>
            </a:r>
            <a:r>
              <a:rPr lang="en-US" sz="310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310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10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3730"/>
              </a:lnSpc>
              <a:spcBef>
                <a:spcPct val="0"/>
              </a:spcBef>
            </a:pPr>
            <a:endParaRPr lang="en-US" sz="310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997545" y="6146727"/>
            <a:ext cx="5204271" cy="1684857"/>
          </a:xfrm>
          <a:custGeom>
            <a:avLst/>
            <a:gdLst/>
            <a:ahLst/>
            <a:cxnLst/>
            <a:rect l="l" t="t" r="r" b="b"/>
            <a:pathLst>
              <a:path w="5204271" h="1684857">
                <a:moveTo>
                  <a:pt x="0" y="0"/>
                </a:moveTo>
                <a:lnTo>
                  <a:pt x="5204271" y="0"/>
                </a:lnTo>
                <a:lnTo>
                  <a:pt x="5204271" y="1684857"/>
                </a:lnTo>
                <a:lnTo>
                  <a:pt x="0" y="168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8254" b="-1111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‹40›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6237" y="915944"/>
            <a:ext cx="787598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 </a:t>
            </a:r>
            <a:r>
              <a:rPr lang="en-US" sz="6000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HTTP Requests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49530"/>
            <a:ext cx="18098071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395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requête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HTTP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communication entre un client et un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serveur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959"/>
              </a:lnSpc>
              <a:spcBef>
                <a:spcPct val="0"/>
              </a:spcBef>
            </a:pP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=&gt; Le client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envoie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demande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et le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serveur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répond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avec des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1" y="4910138"/>
            <a:ext cx="14814202" cy="409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8"/>
              </a:lnSpc>
              <a:spcBef>
                <a:spcPct val="0"/>
              </a:spcBef>
            </a:pP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Et pour faire </a:t>
            </a:r>
            <a:r>
              <a:rPr lang="en-US" sz="281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1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requête</a:t>
            </a: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HTTP </a:t>
            </a:r>
            <a:r>
              <a:rPr lang="en-US" sz="281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JavaScript </a:t>
            </a:r>
            <a:r>
              <a:rPr lang="en-US" sz="281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avec Vue.js, on </a:t>
            </a:r>
            <a:r>
              <a:rPr lang="en-US" sz="281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2815" b="1" dirty="0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 la </a:t>
            </a:r>
            <a:r>
              <a:rPr lang="en-US" sz="2815" b="1" dirty="0" err="1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fonction</a:t>
            </a:r>
            <a:r>
              <a:rPr lang="en-US" sz="2815" b="1" dirty="0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 fetch(</a:t>
            </a:r>
            <a:r>
              <a:rPr lang="en-US" sz="281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2789" y="7110413"/>
            <a:ext cx="99380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// je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demande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depuis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fichier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2899" dirty="0">
                <a:solidFill>
                  <a:srgbClr val="000000">
                    <a:alpha val="5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 lien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5749" y="1461625"/>
            <a:ext cx="1624068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395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problème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que fetch() ne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pas les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directement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Promise.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3014351"/>
            <a:ext cx="1180058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8"/>
              </a:lnSpc>
              <a:spcBef>
                <a:spcPct val="0"/>
              </a:spcBef>
            </a:pPr>
            <a:r>
              <a:rPr lang="en-US" sz="3307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Solution Pour </a:t>
            </a:r>
            <a:r>
              <a:rPr lang="en-US" sz="3307" b="1" dirty="0" err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attendre</a:t>
            </a:r>
            <a:r>
              <a:rPr lang="en-US" sz="3307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 les </a:t>
            </a:r>
            <a:r>
              <a:rPr lang="en-US" sz="3307" b="1" dirty="0" err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données</a:t>
            </a:r>
            <a:r>
              <a:rPr lang="en-US" sz="3307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 : async / await</a:t>
            </a:r>
          </a:p>
        </p:txBody>
      </p:sp>
      <p:sp>
        <p:nvSpPr>
          <p:cNvPr id="4" name="Freeform 4"/>
          <p:cNvSpPr/>
          <p:nvPr/>
        </p:nvSpPr>
        <p:spPr>
          <a:xfrm>
            <a:off x="1431371" y="5966173"/>
            <a:ext cx="9966541" cy="1984429"/>
          </a:xfrm>
          <a:custGeom>
            <a:avLst/>
            <a:gdLst/>
            <a:ahLst/>
            <a:cxnLst/>
            <a:rect l="l" t="t" r="r" b="b"/>
            <a:pathLst>
              <a:path w="9966541" h="1984429">
                <a:moveTo>
                  <a:pt x="0" y="0"/>
                </a:moveTo>
                <a:lnTo>
                  <a:pt x="9966540" y="0"/>
                </a:lnTo>
                <a:lnTo>
                  <a:pt x="9966540" y="1984429"/>
                </a:lnTo>
                <a:lnTo>
                  <a:pt x="0" y="1984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1" b="-174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371591" y="822162"/>
            <a:ext cx="2077791" cy="5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3383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!Problème: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1330" y="3709676"/>
            <a:ext cx="16357457" cy="102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6" lvl="1" indent="-356233" algn="l">
              <a:lnSpc>
                <a:spcPts val="395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“async”: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déclarer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fonction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asynchrone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fonction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faire des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opérations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qui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prennent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du temps)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330" y="4994623"/>
            <a:ext cx="1785588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395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“await”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d’attendre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réponse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du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serveur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avant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continuer le code.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8611" y="8150627"/>
            <a:ext cx="15970779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  <a:spcBef>
                <a:spcPct val="0"/>
              </a:spcBef>
            </a:pPr>
            <a:r>
              <a:rPr lang="en-US" sz="316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=&gt; 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Après fetch, on ne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reçoit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pas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directement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objet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Response  On doit transformer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cette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réponse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obtenir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167" dirty="0" err="1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167" dirty="0">
                <a:solidFill>
                  <a:srgbClr val="CA5A2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endParaRPr lang="en-US" sz="3167" dirty="0">
              <a:solidFill>
                <a:srgbClr val="CA5A2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AutoShape 9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‹41›</a:t>
            </a:r>
          </a:p>
        </p:txBody>
      </p:sp>
      <p:sp>
        <p:nvSpPr>
          <p:cNvPr id="12" name="AutoShape 1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5" name="AutoShape 1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2534" y="4729572"/>
            <a:ext cx="7003969" cy="951168"/>
          </a:xfrm>
          <a:custGeom>
            <a:avLst/>
            <a:gdLst/>
            <a:ahLst/>
            <a:cxnLst/>
            <a:rect l="l" t="t" r="r" b="b"/>
            <a:pathLst>
              <a:path w="7003969" h="951168">
                <a:moveTo>
                  <a:pt x="0" y="0"/>
                </a:moveTo>
                <a:lnTo>
                  <a:pt x="7003970" y="0"/>
                </a:lnTo>
                <a:lnTo>
                  <a:pt x="7003970" y="951168"/>
                </a:lnTo>
                <a:lnTo>
                  <a:pt x="0" y="951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729" b="-2472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87131" y="7248228"/>
            <a:ext cx="6654776" cy="1258518"/>
          </a:xfrm>
          <a:custGeom>
            <a:avLst/>
            <a:gdLst/>
            <a:ahLst/>
            <a:cxnLst/>
            <a:rect l="l" t="t" r="r" b="b"/>
            <a:pathLst>
              <a:path w="6654776" h="1258518">
                <a:moveTo>
                  <a:pt x="0" y="0"/>
                </a:moveTo>
                <a:lnTo>
                  <a:pt x="6654776" y="0"/>
                </a:lnTo>
                <a:lnTo>
                  <a:pt x="6654776" y="1258518"/>
                </a:lnTo>
                <a:lnTo>
                  <a:pt x="0" y="125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490044" y="2102798"/>
            <a:ext cx="5526636" cy="167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137" lvl="1" indent="-390568" algn="l">
              <a:lnSpc>
                <a:spcPts val="4341"/>
              </a:lnSpc>
              <a:buFont typeface="Arial"/>
              <a:buChar char="•"/>
            </a:pPr>
            <a:r>
              <a:rPr lang="en-US" sz="36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texte</a:t>
            </a:r>
            <a:r>
              <a:rPr lang="en-US" sz="36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781137" lvl="1" indent="-390568" algn="l">
              <a:lnSpc>
                <a:spcPts val="4341"/>
              </a:lnSpc>
              <a:buFont typeface="Arial"/>
              <a:buChar char="•"/>
            </a:pPr>
            <a:r>
              <a:rPr lang="en-US" sz="36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JSON </a:t>
            </a:r>
          </a:p>
          <a:p>
            <a:pPr marL="781137" lvl="1" indent="-390568" algn="l">
              <a:lnSpc>
                <a:spcPts val="4341"/>
              </a:lnSpc>
              <a:buFont typeface="Arial"/>
              <a:buChar char="•"/>
            </a:pPr>
            <a:r>
              <a:rPr lang="en-US" sz="36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fichier</a:t>
            </a:r>
            <a:r>
              <a:rPr lang="en-US" sz="36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7030" y="3962809"/>
            <a:ext cx="2671286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  <a:spcBef>
                <a:spcPct val="0"/>
              </a:spcBef>
            </a:pPr>
            <a:r>
              <a:rPr lang="en-US" sz="357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Cas 1 : </a:t>
            </a:r>
            <a:r>
              <a:rPr lang="en-US" sz="357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texte</a:t>
            </a:r>
            <a:endParaRPr lang="en-US" sz="357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54046" y="6555605"/>
            <a:ext cx="282904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339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Cas 2 : JSON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06966" y="7649846"/>
            <a:ext cx="8575833" cy="421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  <a:spcBef>
                <a:spcPct val="0"/>
              </a:spcBef>
            </a:pPr>
            <a:r>
              <a:rPr lang="en-US" sz="2904" dirty="0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//</a:t>
            </a:r>
            <a:r>
              <a:rPr lang="en-US" sz="2904" dirty="0" err="1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convertis</a:t>
            </a:r>
            <a:r>
              <a:rPr lang="en-US" sz="2904" dirty="0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2904" dirty="0" err="1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904" dirty="0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04" dirty="0" err="1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904" dirty="0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04" dirty="0" err="1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objet</a:t>
            </a:r>
            <a:r>
              <a:rPr lang="en-US" sz="2904" dirty="0">
                <a:solidFill>
                  <a:srgbClr val="000000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 JavaScript</a:t>
            </a:r>
          </a:p>
        </p:txBody>
      </p:sp>
      <p:sp>
        <p:nvSpPr>
          <p:cNvPr id="8" name="AutoShape 8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10016321" y="612451"/>
            <a:ext cx="7689532" cy="4762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>
            <a:off x="10016321" y="9540526"/>
            <a:ext cx="7689473" cy="2857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746247" y="9502426"/>
            <a:ext cx="7821356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8797833" y="9326214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‹42›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1310649"/>
            <a:ext cx="134336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Il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y’a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plusieurs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formats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possibles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lire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notre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réponse</a:t>
            </a:r>
            <a:r>
              <a:rPr lang="en-US" sz="32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8519" y="6076846"/>
            <a:ext cx="13274686" cy="3190979"/>
          </a:xfrm>
          <a:custGeom>
            <a:avLst/>
            <a:gdLst/>
            <a:ahLst/>
            <a:cxnLst/>
            <a:rect l="l" t="t" r="r" b="b"/>
            <a:pathLst>
              <a:path w="13274686" h="3190979">
                <a:moveTo>
                  <a:pt x="0" y="0"/>
                </a:moveTo>
                <a:lnTo>
                  <a:pt x="13274685" y="0"/>
                </a:lnTo>
                <a:lnTo>
                  <a:pt x="13274685" y="3190979"/>
                </a:lnTo>
                <a:lnTo>
                  <a:pt x="0" y="3190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68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746027" y="657225"/>
            <a:ext cx="770393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6"/>
              </a:lnSpc>
              <a:spcBef>
                <a:spcPct val="0"/>
              </a:spcBef>
            </a:pPr>
            <a:r>
              <a:rPr lang="en-US" sz="4505" b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On peut aussi utiliser Axios: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1840" y="1419639"/>
            <a:ext cx="15900450" cy="102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395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Axios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outil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qui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communiquer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avec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API pour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récupérer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envoyer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3299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299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59114" y="2656945"/>
            <a:ext cx="8037736" cy="241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3180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Pourquoi</a:t>
            </a:r>
            <a:r>
              <a:rPr lang="en-US" sz="3180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80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utiliser</a:t>
            </a:r>
            <a:r>
              <a:rPr lang="en-US" sz="3180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80" dirty="0" err="1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Axios</a:t>
            </a:r>
            <a:r>
              <a:rPr lang="en-US" sz="3180" dirty="0">
                <a:solidFill>
                  <a:srgbClr val="FF914D"/>
                </a:solidFill>
                <a:latin typeface="Arimo"/>
                <a:ea typeface="Arimo"/>
                <a:cs typeface="Arimo"/>
                <a:sym typeface="Arimo"/>
              </a:rPr>
              <a:t> ?</a:t>
            </a:r>
          </a:p>
          <a:p>
            <a:pPr algn="l">
              <a:lnSpc>
                <a:spcPts val="3816"/>
              </a:lnSpc>
            </a:pP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✔ plus simple que fetch</a:t>
            </a:r>
          </a:p>
          <a:p>
            <a:pPr algn="l">
              <a:lnSpc>
                <a:spcPts val="3816"/>
              </a:lnSpc>
            </a:pP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✔ plus propre à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écrire</a:t>
            </a:r>
            <a:endParaRPr lang="en-US" sz="318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816"/>
              </a:lnSpc>
            </a:pP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✔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donne</a:t>
            </a: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directement</a:t>
            </a: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endParaRPr lang="en-US" sz="318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816"/>
              </a:lnSpc>
            </a:pP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✔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gère</a:t>
            </a: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8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automatiquement</a:t>
            </a:r>
            <a:r>
              <a:rPr lang="en-US" sz="318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578575"/>
            <a:ext cx="2165927" cy="46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9"/>
              </a:lnSpc>
              <a:spcBef>
                <a:spcPct val="0"/>
              </a:spcBef>
            </a:pPr>
            <a:r>
              <a:rPr lang="en-US" sz="2941" b="1" dirty="0" err="1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Exemple</a:t>
            </a:r>
            <a:r>
              <a:rPr lang="en-US" sz="2941" b="1" dirty="0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70814" y="7614892"/>
            <a:ext cx="6523797" cy="42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1"/>
              </a:lnSpc>
              <a:spcBef>
                <a:spcPct val="0"/>
              </a:spcBef>
            </a:pPr>
            <a:r>
              <a:rPr lang="en-US" sz="2726">
                <a:solidFill>
                  <a:srgbClr val="000000">
                    <a:alpha val="52941"/>
                  </a:srgbClr>
                </a:solidFill>
                <a:latin typeface="Arimo"/>
                <a:ea typeface="Arimo"/>
                <a:cs typeface="Arimo"/>
                <a:sym typeface="Arimo"/>
              </a:rPr>
              <a:t>//axios.get() → demande des données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419542" y="9173583"/>
            <a:ext cx="12595048" cy="47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049" dirty="0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//</a:t>
            </a:r>
            <a:r>
              <a:rPr lang="en-US" sz="3049" dirty="0" err="1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response.data</a:t>
            </a:r>
            <a:r>
              <a:rPr lang="en-US" sz="3049" dirty="0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3049" dirty="0" err="1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retourne</a:t>
            </a:r>
            <a:r>
              <a:rPr lang="en-US" sz="3049" dirty="0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049" dirty="0" err="1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vraies</a:t>
            </a:r>
            <a:r>
              <a:rPr lang="en-US" sz="3049" dirty="0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49" dirty="0" err="1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049" dirty="0">
                <a:solidFill>
                  <a:srgbClr val="000000">
                    <a:alpha val="58824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746250" y="403112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8885600" y="163736"/>
            <a:ext cx="516900" cy="516900"/>
            <a:chOff x="0" y="0"/>
            <a:chExt cx="689200" cy="68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2" name="AutoShape 12"/>
          <p:cNvSpPr/>
          <p:nvPr/>
        </p:nvSpPr>
        <p:spPr>
          <a:xfrm>
            <a:off x="9896850" y="403112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561840" y="985434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9564460" y="9901970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5" name="TextBox 15"/>
          <p:cNvSpPr txBox="1"/>
          <p:nvPr/>
        </p:nvSpPr>
        <p:spPr>
          <a:xfrm>
            <a:off x="8206787" y="9631220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‹43›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563" y="37307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598513" y="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>
            <a:off x="9857267" y="392125"/>
            <a:ext cx="7822905" cy="1905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flipV="1">
            <a:off x="489563" y="9692926"/>
            <a:ext cx="7256172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9570169" y="9692926"/>
            <a:ext cx="7689119" cy="952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2919296" y="3391805"/>
            <a:ext cx="11875334" cy="3681353"/>
          </a:xfrm>
          <a:custGeom>
            <a:avLst/>
            <a:gdLst/>
            <a:ahLst/>
            <a:cxnLst/>
            <a:rect l="l" t="t" r="r" b="b"/>
            <a:pathLst>
              <a:path w="11875334" h="3681353">
                <a:moveTo>
                  <a:pt x="0" y="0"/>
                </a:moveTo>
                <a:lnTo>
                  <a:pt x="11875333" y="0"/>
                </a:lnTo>
                <a:lnTo>
                  <a:pt x="11875333" y="3681353"/>
                </a:lnTo>
                <a:lnTo>
                  <a:pt x="0" y="3681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2647688"/>
            <a:ext cx="15882156" cy="6610612"/>
          </a:xfrm>
          <a:custGeom>
            <a:avLst/>
            <a:gdLst/>
            <a:ahLst/>
            <a:cxnLst/>
            <a:rect l="l" t="t" r="r" b="b"/>
            <a:pathLst>
              <a:path w="15882156" h="6610612">
                <a:moveTo>
                  <a:pt x="0" y="0"/>
                </a:moveTo>
                <a:lnTo>
                  <a:pt x="15882156" y="0"/>
                </a:lnTo>
                <a:lnTo>
                  <a:pt x="15882156" y="6610612"/>
                </a:lnTo>
                <a:lnTo>
                  <a:pt x="0" y="6610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18" r="-35537" b="-2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202959" y="94964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‹44›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42250"/>
            <a:ext cx="8088809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2:</a:t>
            </a:r>
            <a:r>
              <a:rPr lang="en-US" sz="6000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Lifecycle Hooks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270" y="1509310"/>
            <a:ext cx="15598875" cy="88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472" lvl="1" indent="-313236" algn="l">
              <a:lnSpc>
                <a:spcPts val="3482"/>
              </a:lnSpc>
              <a:spcBef>
                <a:spcPct val="0"/>
              </a:spcBef>
              <a:buFont typeface="Arial"/>
              <a:buChar char="•"/>
            </a:pP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lifecycle hooks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permettent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d’exécuter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du code à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différentes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étapes de la vie d’un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Vue :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création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9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affichage</a:t>
            </a:r>
            <a:r>
              <a:rPr lang="en-US" sz="29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mise à jour et suppression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178674"/>
            <a:ext cx="7347513" cy="8394170"/>
          </a:xfrm>
          <a:custGeom>
            <a:avLst/>
            <a:gdLst/>
            <a:ahLst/>
            <a:cxnLst/>
            <a:rect l="l" t="t" r="r" b="b"/>
            <a:pathLst>
              <a:path w="7347513" h="8394170">
                <a:moveTo>
                  <a:pt x="0" y="0"/>
                </a:moveTo>
                <a:lnTo>
                  <a:pt x="7347513" y="0"/>
                </a:lnTo>
                <a:lnTo>
                  <a:pt x="7347513" y="8394170"/>
                </a:lnTo>
                <a:lnTo>
                  <a:pt x="0" y="8394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1" b="-170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42500" y="766762"/>
            <a:ext cx="1774011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  <a:spcBef>
                <a:spcPct val="0"/>
              </a:spcBef>
            </a:pPr>
            <a:r>
              <a:rPr lang="en-US" sz="3218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Exemple: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10258" y="6672515"/>
            <a:ext cx="464700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  <a:spcBef>
                <a:spcPct val="0"/>
              </a:spcBef>
            </a:pPr>
            <a:r>
              <a:rPr lang="en-US" sz="2318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//on change le texte en “Bienvenue”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2457" y="8232946"/>
            <a:ext cx="8528531" cy="37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  <a:spcBef>
                <a:spcPct val="0"/>
              </a:spcBef>
            </a:pPr>
            <a:r>
              <a:rPr lang="en-US" sz="2357">
                <a:solidFill>
                  <a:srgbClr val="000000">
                    <a:alpha val="50980"/>
                  </a:srgbClr>
                </a:solidFill>
                <a:latin typeface="Arimo"/>
                <a:ea typeface="Arimo"/>
                <a:cs typeface="Arimo"/>
                <a:sym typeface="Arimo"/>
              </a:rPr>
              <a:t>//ouvre la page et mets directement le curseur dans l’input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12557" y="1262063"/>
            <a:ext cx="5898952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7"/>
              </a:lnSpc>
              <a:spcBef>
                <a:spcPct val="0"/>
              </a:spcBef>
            </a:pPr>
            <a:r>
              <a:rPr lang="en-US" sz="2397" dirty="0" err="1">
                <a:solidFill>
                  <a:srgbClr val="8C52FF"/>
                </a:solidFill>
                <a:latin typeface="Arimo"/>
                <a:ea typeface="Arimo"/>
                <a:cs typeface="Arimo"/>
                <a:sym typeface="Arimo"/>
              </a:rPr>
              <a:t>Pourquoi</a:t>
            </a:r>
            <a:r>
              <a:rPr lang="en-US" sz="2397" dirty="0">
                <a:solidFill>
                  <a:srgbClr val="8C52FF"/>
                </a:solidFill>
                <a:latin typeface="Arimo"/>
                <a:ea typeface="Arimo"/>
                <a:cs typeface="Arimo"/>
                <a:sym typeface="Arimo"/>
              </a:rPr>
              <a:t> created ?</a:t>
            </a:r>
          </a:p>
          <a:p>
            <a:pPr algn="just">
              <a:lnSpc>
                <a:spcPts val="2877"/>
              </a:lnSpc>
              <a:spcBef>
                <a:spcPct val="0"/>
              </a:spcBef>
            </a:pP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517622" lvl="1" indent="-258811" algn="just">
              <a:lnSpc>
                <a:spcPts val="2877"/>
              </a:lnSpc>
              <a:buAutoNum type="arabicPeriod"/>
            </a:pP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les </a:t>
            </a: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existent déjà</a:t>
            </a:r>
          </a:p>
          <a:p>
            <a:pPr marL="517622" lvl="1" indent="-258811" algn="just">
              <a:lnSpc>
                <a:spcPts val="2877"/>
              </a:lnSpc>
              <a:buAutoNum type="arabicPeriod"/>
            </a:pP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page </a:t>
            </a: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n’est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pas encore </a:t>
            </a: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affichée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517622" lvl="1" indent="-258811" algn="l">
              <a:lnSpc>
                <a:spcPts val="2877"/>
              </a:lnSpc>
              <a:buAutoNum type="arabicPeriod"/>
            </a:pP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donc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parfait pour </a:t>
            </a: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initialiser</a:t>
            </a:r>
            <a:r>
              <a:rPr lang="en-US" sz="239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2397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endParaRPr lang="en-US" sz="2397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12557" y="3647499"/>
            <a:ext cx="6534960" cy="172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6"/>
              </a:lnSpc>
              <a:spcBef>
                <a:spcPct val="0"/>
              </a:spcBef>
            </a:pPr>
            <a:r>
              <a:rPr lang="en-US" sz="2271" dirty="0" err="1">
                <a:solidFill>
                  <a:srgbClr val="8C52FF"/>
                </a:solidFill>
                <a:latin typeface="Arimo"/>
                <a:ea typeface="Arimo"/>
                <a:cs typeface="Arimo"/>
                <a:sym typeface="Arimo"/>
              </a:rPr>
              <a:t>Pourquoi</a:t>
            </a:r>
            <a:r>
              <a:rPr lang="en-US" sz="2271" dirty="0">
                <a:solidFill>
                  <a:srgbClr val="8C52FF"/>
                </a:solidFill>
                <a:latin typeface="Arimo"/>
                <a:ea typeface="Arimo"/>
                <a:cs typeface="Arimo"/>
                <a:sym typeface="Arimo"/>
              </a:rPr>
              <a:t> mounted ?</a:t>
            </a:r>
          </a:p>
          <a:p>
            <a:pPr algn="just">
              <a:lnSpc>
                <a:spcPts val="2885"/>
              </a:lnSpc>
              <a:spcBef>
                <a:spcPct val="0"/>
              </a:spcBef>
            </a:pPr>
            <a:endParaRPr lang="en-US" sz="2271" dirty="0">
              <a:solidFill>
                <a:srgbClr val="8C52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76106" lvl="1" indent="-238053" algn="l">
              <a:lnSpc>
                <a:spcPts val="2646"/>
              </a:lnSpc>
              <a:buAutoNum type="arabicPeriod"/>
            </a:pPr>
            <a:r>
              <a:rPr lang="en-US" sz="220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page </a:t>
            </a:r>
            <a:r>
              <a:rPr lang="en-US" sz="220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20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visible</a:t>
            </a:r>
          </a:p>
          <a:p>
            <a:pPr marL="476106" lvl="1" indent="-238053" algn="l">
              <a:lnSpc>
                <a:spcPts val="2646"/>
              </a:lnSpc>
              <a:buAutoNum type="arabicPeriod"/>
            </a:pPr>
            <a:r>
              <a:rPr lang="en-US" sz="220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 DOM </a:t>
            </a:r>
            <a:r>
              <a:rPr lang="en-US" sz="220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existe</a:t>
            </a:r>
            <a:endParaRPr lang="en-US" sz="2205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76106" lvl="1" indent="-238053" algn="l">
              <a:lnSpc>
                <a:spcPts val="2646"/>
              </a:lnSpc>
              <a:buAutoNum type="arabicPeriod"/>
            </a:pPr>
            <a:r>
              <a:rPr lang="en-US" sz="220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05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donc</a:t>
            </a:r>
            <a:r>
              <a:rPr lang="en-US" sz="220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parfait pour focus input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698416" y="9663936"/>
            <a:ext cx="7138256" cy="9522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9422033" y="9668697"/>
            <a:ext cx="7427012" cy="4761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8052172" y="949248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‹45›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89563" y="37307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598513" y="0"/>
            <a:ext cx="516900" cy="516900"/>
            <a:chOff x="0" y="0"/>
            <a:chExt cx="689200" cy="68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AutoShape 14"/>
          <p:cNvSpPr/>
          <p:nvPr/>
        </p:nvSpPr>
        <p:spPr>
          <a:xfrm>
            <a:off x="9857267" y="392125"/>
            <a:ext cx="7822905" cy="1905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5" name="TextBox 15"/>
          <p:cNvSpPr txBox="1"/>
          <p:nvPr/>
        </p:nvSpPr>
        <p:spPr>
          <a:xfrm>
            <a:off x="2334754" y="7463090"/>
            <a:ext cx="5901919" cy="35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  <a:spcBef>
                <a:spcPct val="0"/>
              </a:spcBef>
            </a:pPr>
            <a:r>
              <a:rPr lang="en-US" sz="2208">
                <a:solidFill>
                  <a:srgbClr val="000000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//pour interagir avec le DOM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34741" y="2745022"/>
            <a:ext cx="5101944" cy="61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2"/>
              </a:lnSpc>
            </a:pPr>
            <a:r>
              <a:rPr lang="en-US" sz="2018">
                <a:solidFill>
                  <a:srgbClr val="000000">
                    <a:alpha val="73725"/>
                  </a:srgbClr>
                </a:solidFill>
                <a:latin typeface="Arimo"/>
                <a:ea typeface="Arimo"/>
                <a:cs typeface="Arimo"/>
                <a:sym typeface="Arimo"/>
              </a:rPr>
              <a:t>//recuperer un element html pour le manipuler directement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>
            <a:off x="746200" y="9616726"/>
            <a:ext cx="764495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9896800" y="9616726"/>
            <a:ext cx="764495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1468491" y="3349894"/>
            <a:ext cx="15308393" cy="993531"/>
          </a:xfrm>
          <a:custGeom>
            <a:avLst/>
            <a:gdLst/>
            <a:ahLst/>
            <a:cxnLst/>
            <a:rect l="l" t="t" r="r" b="b"/>
            <a:pathLst>
              <a:path w="15308393" h="993531">
                <a:moveTo>
                  <a:pt x="0" y="0"/>
                </a:moveTo>
                <a:lnTo>
                  <a:pt x="15308394" y="0"/>
                </a:lnTo>
                <a:lnTo>
                  <a:pt x="15308394" y="993530"/>
                </a:lnTo>
                <a:lnTo>
                  <a:pt x="0" y="993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0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028700" y="5523815"/>
            <a:ext cx="7505700" cy="3795023"/>
          </a:xfrm>
          <a:custGeom>
            <a:avLst/>
            <a:gdLst/>
            <a:ahLst/>
            <a:cxnLst/>
            <a:rect l="l" t="t" r="r" b="b"/>
            <a:pathLst>
              <a:path w="6640109" h="3795023">
                <a:moveTo>
                  <a:pt x="0" y="0"/>
                </a:moveTo>
                <a:lnTo>
                  <a:pt x="6640109" y="0"/>
                </a:lnTo>
                <a:lnTo>
                  <a:pt x="6640109" y="3795023"/>
                </a:lnTo>
                <a:lnTo>
                  <a:pt x="0" y="3795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834" r="-66830" b="-1110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9204882" y="5562599"/>
            <a:ext cx="8706817" cy="3686377"/>
          </a:xfrm>
          <a:custGeom>
            <a:avLst/>
            <a:gdLst/>
            <a:ahLst/>
            <a:cxnLst/>
            <a:rect l="l" t="t" r="r" b="b"/>
            <a:pathLst>
              <a:path w="8706817" h="3454496">
                <a:moveTo>
                  <a:pt x="0" y="0"/>
                </a:moveTo>
                <a:lnTo>
                  <a:pt x="8706817" y="0"/>
                </a:lnTo>
                <a:lnTo>
                  <a:pt x="8706817" y="3454496"/>
                </a:lnTo>
                <a:lnTo>
                  <a:pt x="0" y="3454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625" r="-26410" b="-8382"/>
            </a:stretch>
          </a:blipFill>
        </p:spPr>
        <p:txBody>
          <a:bodyPr/>
          <a:lstStyle/>
          <a:p>
            <a:endParaRPr lang="fr-FR"/>
          </a:p>
        </p:txBody>
      </p:sp>
      <p:graphicFrame>
        <p:nvGraphicFramePr>
          <p:cNvPr id="11" name="Object 11"/>
          <p:cNvGraphicFramePr/>
          <p:nvPr/>
        </p:nvGraphicFramePr>
        <p:xfrm>
          <a:off x="8201025" y="4829175"/>
          <a:ext cx="18859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7" imgW="2260600" imgH="1003300" progId="Excel.Sheet.12">
                  <p:embed/>
                </p:oleObj>
              </mc:Choice>
              <mc:Fallback>
                <p:oleObj name="Worksheet" r:id="rId7" imgW="2260600" imgH="1003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01025" y="4829175"/>
                        <a:ext cx="1885950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‹46›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200" y="909025"/>
            <a:ext cx="766512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 </a:t>
            </a:r>
            <a:r>
              <a:rPr lang="en-US" sz="6000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Provide / Inject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250" y="1976662"/>
            <a:ext cx="1691726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242" lvl="1" indent="-345621" algn="l">
              <a:lnSpc>
                <a:spcPts val="3842"/>
              </a:lnSpc>
              <a:spcBef>
                <a:spcPct val="0"/>
              </a:spcBef>
              <a:buFont typeface="Arial"/>
              <a:buChar char="•"/>
            </a:pP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Provide / Inject =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permet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un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composant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parent de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fournir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tous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ses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enfants descendants sans passer par les props à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chaque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niveau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320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évite</a:t>
            </a:r>
            <a:r>
              <a:rPr lang="en-US" sz="320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"prop drilling").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799915"/>
            <a:ext cx="539805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90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Composant</a:t>
            </a:r>
            <a:r>
              <a:rPr lang="en-US" sz="290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parent — provide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04882" y="4869737"/>
            <a:ext cx="517219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300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Composant</a:t>
            </a:r>
            <a:r>
              <a:rPr lang="en-US" sz="300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enfant — inject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8491" y="8756637"/>
            <a:ext cx="6922609" cy="49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sz="3090" dirty="0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//rends les </a:t>
            </a:r>
            <a:r>
              <a:rPr lang="en-US" sz="3090" dirty="0" err="1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090" dirty="0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0" dirty="0" err="1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disponibles</a:t>
            </a:r>
            <a:r>
              <a:rPr lang="en-US" sz="3090" dirty="0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90" dirty="0" err="1">
                <a:solidFill>
                  <a:srgbClr val="000000">
                    <a:alpha val="56863"/>
                  </a:srgbClr>
                </a:solidFill>
                <a:latin typeface="Arimo"/>
                <a:ea typeface="Arimo"/>
                <a:cs typeface="Arimo"/>
                <a:sym typeface="Arimo"/>
              </a:rPr>
              <a:t>partout</a:t>
            </a:r>
            <a:endParaRPr lang="en-US" sz="3090" dirty="0">
              <a:solidFill>
                <a:srgbClr val="000000">
                  <a:alpha val="56863"/>
                </a:srgbClr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0" y="8783798"/>
            <a:ext cx="8383708" cy="50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194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//</a:t>
            </a:r>
            <a:r>
              <a:rPr lang="en-US" sz="3194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récupère</a:t>
            </a:r>
            <a:r>
              <a:rPr lang="en-US" sz="3194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les </a:t>
            </a:r>
            <a:r>
              <a:rPr lang="en-US" sz="3194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données</a:t>
            </a:r>
            <a:r>
              <a:rPr lang="en-US" sz="3194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4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fournies</a:t>
            </a:r>
            <a:r>
              <a:rPr lang="en-US" sz="3194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par le parent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2568" y="32803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969362" y="181276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>
            <a:off x="10064524" y="337561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TextBox 6"/>
          <p:cNvSpPr txBox="1"/>
          <p:nvPr/>
        </p:nvSpPr>
        <p:spPr>
          <a:xfrm>
            <a:off x="522568" y="679126"/>
            <a:ext cx="5122176" cy="92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 </a:t>
            </a:r>
            <a:r>
              <a:rPr lang="en-US" sz="5999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152" y="1807176"/>
            <a:ext cx="1697042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919" lvl="1" indent="-350959" algn="l">
              <a:lnSpc>
                <a:spcPts val="3901"/>
              </a:lnSpc>
              <a:spcBef>
                <a:spcPct val="0"/>
              </a:spcBef>
              <a:buFont typeface="Arial"/>
              <a:buChar char="•"/>
            </a:pP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Vue Router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bibliothèque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officielle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pour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créer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des(SPA)Single Page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Applications,qui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page HTML qui change de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contenu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dynamiquement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sans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rechargement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3290978"/>
            <a:ext cx="1546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!</a:t>
            </a:r>
            <a:r>
              <a:rPr lang="en-US" sz="3099" b="1" dirty="0" err="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problème</a:t>
            </a:r>
            <a:r>
              <a:rPr lang="en-US" sz="3099" b="1" dirty="0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 change de page → la page se recharge </a:t>
            </a:r>
            <a:r>
              <a:rPr lang="en-US" sz="30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complètement</a:t>
            </a:r>
            <a:r>
              <a:rPr lang="en-US" sz="30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8737" y="5034053"/>
            <a:ext cx="2496502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  <a:spcBef>
                <a:spcPct val="0"/>
              </a:spcBef>
            </a:pPr>
            <a:r>
              <a:rPr lang="en-US" sz="3218" b="1" dirty="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le routing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74108" y="4888143"/>
            <a:ext cx="14024161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✔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changement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rapide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contenu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+L'URL change  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même</a:t>
            </a:r>
            <a:endParaRPr lang="en-US" sz="328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3947"/>
              </a:lnSpc>
              <a:spcBef>
                <a:spcPct val="0"/>
              </a:spcBef>
            </a:pP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✔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seule</a:t>
            </a: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page (SPA)</a:t>
            </a:r>
          </a:p>
          <a:p>
            <a:pPr>
              <a:lnSpc>
                <a:spcPts val="3947"/>
              </a:lnSpc>
              <a:spcBef>
                <a:spcPct val="0"/>
              </a:spcBef>
            </a:pP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✔ navigation sans </a:t>
            </a:r>
            <a:r>
              <a:rPr lang="en-US" sz="328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rechargement</a:t>
            </a:r>
            <a:endParaRPr lang="en-US" sz="328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3947"/>
              </a:lnSpc>
              <a:spcBef>
                <a:spcPct val="0"/>
              </a:spcBef>
            </a:pPr>
            <a:r>
              <a:rPr lang="en-US" sz="328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522568" y="9674735"/>
            <a:ext cx="7827278" cy="952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614353" y="9684260"/>
            <a:ext cx="7644947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TextBox 13"/>
          <p:cNvSpPr txBox="1"/>
          <p:nvPr/>
        </p:nvSpPr>
        <p:spPr>
          <a:xfrm>
            <a:off x="8571712" y="9469948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‹47›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7010" y="7236474"/>
            <a:ext cx="249650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sz="333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Installation :</a:t>
            </a:r>
          </a:p>
        </p:txBody>
      </p:sp>
      <p:sp>
        <p:nvSpPr>
          <p:cNvPr id="15" name="Freeform 15"/>
          <p:cNvSpPr/>
          <p:nvPr/>
        </p:nvSpPr>
        <p:spPr>
          <a:xfrm>
            <a:off x="997010" y="7981569"/>
            <a:ext cx="6196876" cy="997599"/>
          </a:xfrm>
          <a:custGeom>
            <a:avLst/>
            <a:gdLst/>
            <a:ahLst/>
            <a:cxnLst/>
            <a:rect l="l" t="t" r="r" b="b"/>
            <a:pathLst>
              <a:path w="6196876" h="997599">
                <a:moveTo>
                  <a:pt x="0" y="0"/>
                </a:moveTo>
                <a:lnTo>
                  <a:pt x="6196876" y="0"/>
                </a:lnTo>
                <a:lnTo>
                  <a:pt x="6196876" y="997600"/>
                </a:lnTo>
                <a:lnTo>
                  <a:pt x="0" y="9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5784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2568" y="32803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969362" y="181276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>
            <a:off x="10064524" y="337561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Freeform 6"/>
          <p:cNvSpPr/>
          <p:nvPr/>
        </p:nvSpPr>
        <p:spPr>
          <a:xfrm>
            <a:off x="830269" y="2685613"/>
            <a:ext cx="12862397" cy="6572687"/>
          </a:xfrm>
          <a:custGeom>
            <a:avLst/>
            <a:gdLst/>
            <a:ahLst/>
            <a:cxnLst/>
            <a:rect l="l" t="t" r="r" b="b"/>
            <a:pathLst>
              <a:path w="12862397" h="6572687">
                <a:moveTo>
                  <a:pt x="0" y="0"/>
                </a:moveTo>
                <a:lnTo>
                  <a:pt x="12862397" y="0"/>
                </a:lnTo>
                <a:lnTo>
                  <a:pt x="12862397" y="6572687"/>
                </a:lnTo>
                <a:lnTo>
                  <a:pt x="0" y="6572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76" b="-34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2568" y="423250"/>
            <a:ext cx="5163946" cy="92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4:</a:t>
            </a:r>
            <a:r>
              <a:rPr lang="en-US" sz="5999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Vue Routing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269" y="1855418"/>
            <a:ext cx="45485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Configuration (main.js) :</a:t>
            </a:r>
          </a:p>
        </p:txBody>
      </p:sp>
      <p:sp>
        <p:nvSpPr>
          <p:cNvPr id="9" name="AutoShape 9"/>
          <p:cNvSpPr/>
          <p:nvPr/>
        </p:nvSpPr>
        <p:spPr>
          <a:xfrm>
            <a:off x="522616" y="9760460"/>
            <a:ext cx="7644853" cy="1905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0064524" y="9779510"/>
            <a:ext cx="7644900" cy="1905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8658715" y="9565197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‹48›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36154" y="1855418"/>
            <a:ext cx="924632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974">
                <a:solidFill>
                  <a:srgbClr val="000000">
                    <a:alpha val="67843"/>
                  </a:srgbClr>
                </a:solidFill>
                <a:latin typeface="Arimo"/>
                <a:ea typeface="Arimo"/>
                <a:cs typeface="Arimo"/>
                <a:sym typeface="Arimo"/>
              </a:rPr>
              <a:t>//On définit quelles URL affichent quels composants.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Freeform 6"/>
          <p:cNvSpPr/>
          <p:nvPr/>
        </p:nvSpPr>
        <p:spPr>
          <a:xfrm>
            <a:off x="1023632" y="2676703"/>
            <a:ext cx="10634968" cy="1041538"/>
          </a:xfrm>
          <a:custGeom>
            <a:avLst/>
            <a:gdLst/>
            <a:ahLst/>
            <a:cxnLst/>
            <a:rect l="l" t="t" r="r" b="b"/>
            <a:pathLst>
              <a:path w="9190142" h="1041538">
                <a:moveTo>
                  <a:pt x="0" y="0"/>
                </a:moveTo>
                <a:lnTo>
                  <a:pt x="9190142" y="0"/>
                </a:lnTo>
                <a:lnTo>
                  <a:pt x="9190142" y="1041538"/>
                </a:lnTo>
                <a:lnTo>
                  <a:pt x="0" y="104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190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825774" y="5008614"/>
            <a:ext cx="11137625" cy="914755"/>
          </a:xfrm>
          <a:custGeom>
            <a:avLst/>
            <a:gdLst/>
            <a:ahLst/>
            <a:cxnLst/>
            <a:rect l="l" t="t" r="r" b="b"/>
            <a:pathLst>
              <a:path w="9185074" h="914755">
                <a:moveTo>
                  <a:pt x="0" y="0"/>
                </a:moveTo>
                <a:lnTo>
                  <a:pt x="9185074" y="0"/>
                </a:lnTo>
                <a:lnTo>
                  <a:pt x="9185074" y="914756"/>
                </a:lnTo>
                <a:lnTo>
                  <a:pt x="0" y="9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8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746200" y="7475945"/>
            <a:ext cx="10796228" cy="1202367"/>
          </a:xfrm>
          <a:custGeom>
            <a:avLst/>
            <a:gdLst/>
            <a:ahLst/>
            <a:cxnLst/>
            <a:rect l="l" t="t" r="r" b="b"/>
            <a:pathLst>
              <a:path w="10796228" h="1202367">
                <a:moveTo>
                  <a:pt x="0" y="0"/>
                </a:moveTo>
                <a:lnTo>
                  <a:pt x="10796228" y="0"/>
                </a:lnTo>
                <a:lnTo>
                  <a:pt x="10796228" y="1202366"/>
                </a:lnTo>
                <a:lnTo>
                  <a:pt x="0" y="1202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617" r="-11757" b="-11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6200" y="2085047"/>
            <a:ext cx="39886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 b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Activer le router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95507" y="2960005"/>
            <a:ext cx="5890132" cy="43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sz="2726" dirty="0">
                <a:solidFill>
                  <a:srgbClr val="000000">
                    <a:alpha val="62745"/>
                  </a:srgbClr>
                </a:solidFill>
                <a:latin typeface="Arimo"/>
                <a:ea typeface="Arimo"/>
                <a:cs typeface="Arimo"/>
                <a:sym typeface="Arimo"/>
              </a:rPr>
              <a:t>//active la navigation dans </a:t>
            </a:r>
            <a:r>
              <a:rPr lang="en-US" sz="2726" dirty="0" err="1">
                <a:solidFill>
                  <a:srgbClr val="000000">
                    <a:alpha val="62745"/>
                  </a:srgbClr>
                </a:solidFill>
                <a:latin typeface="Arimo"/>
                <a:ea typeface="Arimo"/>
                <a:cs typeface="Arimo"/>
                <a:sym typeface="Arimo"/>
              </a:rPr>
              <a:t>l’application</a:t>
            </a:r>
            <a:endParaRPr lang="en-US" sz="2726" dirty="0">
              <a:solidFill>
                <a:srgbClr val="000000">
                  <a:alpha val="62745"/>
                </a:srgbClr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484739"/>
            <a:ext cx="67072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 b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Affichage des pages : router-view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53400" y="5225040"/>
            <a:ext cx="526225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8"/>
              </a:lnSpc>
              <a:spcBef>
                <a:spcPct val="0"/>
              </a:spcBef>
            </a:pPr>
            <a:r>
              <a:rPr lang="en-US" sz="2690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//</a:t>
            </a:r>
            <a:r>
              <a:rPr lang="en-US" sz="2690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c’est</a:t>
            </a:r>
            <a:r>
              <a:rPr lang="en-US" sz="2690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90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ici</a:t>
            </a:r>
            <a:r>
              <a:rPr lang="en-US" sz="2690" dirty="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que les pages </a:t>
            </a:r>
            <a:r>
              <a:rPr lang="en-US" sz="2690" dirty="0" err="1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s’affichent</a:t>
            </a:r>
            <a:endParaRPr lang="en-US" sz="2690" dirty="0">
              <a:solidFill>
                <a:srgbClr val="000000">
                  <a:alpha val="64706"/>
                </a:srgbClr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6694895"/>
            <a:ext cx="469737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3379" b="1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Navigation : router-link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1275" y="7220252"/>
            <a:ext cx="13646964" cy="77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548">
                <a:solidFill>
                  <a:srgbClr val="000000">
                    <a:alpha val="62745"/>
                  </a:srgbClr>
                </a:solidFill>
                <a:latin typeface="Arimo"/>
                <a:ea typeface="Arimo"/>
                <a:cs typeface="Arimo"/>
                <a:sym typeface="Arimo"/>
              </a:rPr>
              <a:t>//remplace les balises &lt;a&gt; classiques. </a:t>
            </a:r>
          </a:p>
          <a:p>
            <a:pPr algn="l">
              <a:lnSpc>
                <a:spcPts val="3058"/>
              </a:lnSpc>
              <a:spcBef>
                <a:spcPct val="0"/>
              </a:spcBef>
            </a:pPr>
            <a:r>
              <a:rPr lang="en-US" sz="2548">
                <a:solidFill>
                  <a:srgbClr val="000000">
                    <a:alpha val="62745"/>
                  </a:srgbClr>
                </a:solidFill>
                <a:latin typeface="Arimo"/>
                <a:ea typeface="Arimo"/>
                <a:cs typeface="Arimo"/>
                <a:sym typeface="Arimo"/>
              </a:rPr>
              <a:t>Il change la page ET l'URL sans recharger le navigateur.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46247" y="9745500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9896753" y="9755025"/>
            <a:ext cx="7644947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7" name="TextBox 17"/>
          <p:cNvSpPr txBox="1"/>
          <p:nvPr/>
        </p:nvSpPr>
        <p:spPr>
          <a:xfrm>
            <a:off x="8686725" y="95407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‹49›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67169" y="1177949"/>
            <a:ext cx="94696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  <a:spcBef>
                <a:spcPct val="0"/>
              </a:spcBef>
            </a:pPr>
            <a:r>
              <a:rPr lang="en-US" sz="33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Pour utiliser le router dans les templates 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TextBox 8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‹50›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7022" y="1009650"/>
            <a:ext cx="12402319" cy="92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 </a:t>
            </a:r>
            <a:r>
              <a:rPr lang="en-US" sz="5999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Composition API — 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5394" y="2368707"/>
            <a:ext cx="1714260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919" lvl="1" indent="-350959" algn="l">
              <a:lnSpc>
                <a:spcPts val="3901"/>
              </a:lnSpc>
              <a:spcBef>
                <a:spcPct val="0"/>
              </a:spcBef>
              <a:buFont typeface="Arial"/>
              <a:buChar char="•"/>
            </a:pP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Composition API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façons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d’écrire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code. Elle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fonction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setup() et des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fonctions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réactives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importées</a:t>
            </a:r>
            <a:r>
              <a:rPr lang="en-US" sz="32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ref(), reactive(), computed(), watch(), etc.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4587" y="3835557"/>
            <a:ext cx="10334179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60" dirty="0" err="1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Problèmes</a:t>
            </a:r>
            <a:r>
              <a:rPr lang="en-US" sz="3360" dirty="0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de Options API :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3360" dirty="0">
              <a:solidFill>
                <a:srgbClr val="FF313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25594" lvl="1" indent="-362797" algn="l">
              <a:lnSpc>
                <a:spcPts val="4032"/>
              </a:lnSpc>
              <a:buFont typeface="Arial"/>
              <a:buChar char="•"/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dispersé</a:t>
            </a: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(data, methods, computed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séparés</a:t>
            </a: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</a:p>
          <a:p>
            <a:pPr marL="725594" lvl="1" indent="-362797" algn="l">
              <a:lnSpc>
                <a:spcPts val="4032"/>
              </a:lnSpc>
              <a:buFont typeface="Arial"/>
              <a:buChar char="•"/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Difficile à lire dans les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gros</a:t>
            </a: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projets</a:t>
            </a:r>
            <a:endParaRPr lang="en-US" sz="336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62797" lvl="1" algn="l">
              <a:lnSpc>
                <a:spcPts val="4032"/>
              </a:lnSpc>
            </a:pPr>
            <a:endParaRPr lang="en-US" sz="336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60" dirty="0" err="1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Avantages</a:t>
            </a:r>
            <a:r>
              <a:rPr lang="en-US" sz="3360" dirty="0">
                <a:solidFill>
                  <a:srgbClr val="00BF63"/>
                </a:solidFill>
                <a:latin typeface="Arimo"/>
                <a:ea typeface="Arimo"/>
                <a:cs typeface="Arimo"/>
                <a:sym typeface="Arimo"/>
              </a:rPr>
              <a:t> :</a:t>
            </a:r>
          </a:p>
          <a:p>
            <a:pPr marL="725594" lvl="1" indent="-362797" algn="l">
              <a:lnSpc>
                <a:spcPts val="4032"/>
              </a:lnSpc>
              <a:buFont typeface="Arial"/>
              <a:buChar char="•"/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 plus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organisé</a:t>
            </a:r>
            <a:endParaRPr lang="en-US" sz="336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25594" lvl="1" indent="-362797" algn="l">
              <a:lnSpc>
                <a:spcPts val="4032"/>
              </a:lnSpc>
              <a:buFont typeface="Arial"/>
              <a:buChar char="•"/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Plus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réutilisable</a:t>
            </a:r>
            <a:endParaRPr lang="en-US" sz="336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25594" lvl="1" indent="-362797" algn="l">
              <a:lnSpc>
                <a:spcPts val="4032"/>
              </a:lnSpc>
              <a:buFont typeface="Arial"/>
              <a:buChar char="•"/>
            </a:pPr>
            <a:r>
              <a:rPr lang="en-US" sz="336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Plus </a:t>
            </a:r>
            <a:r>
              <a:rPr lang="en-US" sz="336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lisible</a:t>
            </a:r>
            <a:endParaRPr lang="en-US" sz="336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96737" y="2564415"/>
            <a:ext cx="8961012" cy="6504522"/>
          </a:xfrm>
          <a:custGeom>
            <a:avLst/>
            <a:gdLst/>
            <a:ahLst/>
            <a:cxnLst/>
            <a:rect l="l" t="t" r="r" b="b"/>
            <a:pathLst>
              <a:path w="8961012" h="6504522">
                <a:moveTo>
                  <a:pt x="0" y="0"/>
                </a:moveTo>
                <a:lnTo>
                  <a:pt x="8961011" y="0"/>
                </a:lnTo>
                <a:lnTo>
                  <a:pt x="8961011" y="6504523"/>
                </a:lnTo>
                <a:lnTo>
                  <a:pt x="0" y="6504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8" r="-1237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228222" y="1564673"/>
            <a:ext cx="7168927" cy="8013953"/>
          </a:xfrm>
          <a:custGeom>
            <a:avLst/>
            <a:gdLst/>
            <a:ahLst/>
            <a:cxnLst/>
            <a:rect l="l" t="t" r="r" b="b"/>
            <a:pathLst>
              <a:path w="7168927" h="8013953">
                <a:moveTo>
                  <a:pt x="0" y="0"/>
                </a:moveTo>
                <a:lnTo>
                  <a:pt x="7168927" y="0"/>
                </a:lnTo>
                <a:lnTo>
                  <a:pt x="7168927" y="8013953"/>
                </a:lnTo>
                <a:lnTo>
                  <a:pt x="0" y="801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7" r="-180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1723"/>
            <a:ext cx="485953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9"/>
              </a:lnSpc>
              <a:spcBef>
                <a:spcPct val="0"/>
              </a:spcBef>
            </a:pPr>
            <a:r>
              <a:rPr lang="en-US" sz="37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Structure de base:</a:t>
            </a:r>
          </a:p>
        </p:txBody>
      </p:sp>
      <p:sp>
        <p:nvSpPr>
          <p:cNvPr id="5" name="AutoShape 5"/>
          <p:cNvSpPr/>
          <p:nvPr/>
        </p:nvSpPr>
        <p:spPr>
          <a:xfrm>
            <a:off x="746153" y="9731026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96847" y="9778651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7" name="TextBox 7"/>
          <p:cNvSpPr txBox="1"/>
          <p:nvPr/>
        </p:nvSpPr>
        <p:spPr>
          <a:xfrm>
            <a:off x="8686725" y="9516713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‹51›</a:t>
            </a:r>
          </a:p>
        </p:txBody>
      </p:sp>
      <p:sp>
        <p:nvSpPr>
          <p:cNvPr id="8" name="AutoShape 8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AutoShape 11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461065" y="2367066"/>
            <a:ext cx="10931437" cy="746770"/>
          </a:xfrm>
          <a:custGeom>
            <a:avLst/>
            <a:gdLst/>
            <a:ahLst/>
            <a:cxnLst/>
            <a:rect l="l" t="t" r="r" b="b"/>
            <a:pathLst>
              <a:path w="10931437" h="746770">
                <a:moveTo>
                  <a:pt x="0" y="0"/>
                </a:moveTo>
                <a:lnTo>
                  <a:pt x="10931437" y="0"/>
                </a:lnTo>
                <a:lnTo>
                  <a:pt x="10931437" y="746769"/>
                </a:lnTo>
                <a:lnTo>
                  <a:pt x="0" y="746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9" name="Freeform 9"/>
          <p:cNvSpPr/>
          <p:nvPr/>
        </p:nvSpPr>
        <p:spPr>
          <a:xfrm>
            <a:off x="10557438" y="2367066"/>
            <a:ext cx="10931437" cy="746770"/>
          </a:xfrm>
          <a:custGeom>
            <a:avLst/>
            <a:gdLst/>
            <a:ahLst/>
            <a:cxnLst/>
            <a:rect l="l" t="t" r="r" b="b"/>
            <a:pathLst>
              <a:path w="10931437" h="746770">
                <a:moveTo>
                  <a:pt x="0" y="0"/>
                </a:moveTo>
                <a:lnTo>
                  <a:pt x="10931437" y="0"/>
                </a:lnTo>
                <a:lnTo>
                  <a:pt x="10931437" y="746769"/>
                </a:lnTo>
                <a:lnTo>
                  <a:pt x="0" y="746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461065" y="3342519"/>
            <a:ext cx="17365869" cy="3549736"/>
          </a:xfrm>
          <a:custGeom>
            <a:avLst/>
            <a:gdLst/>
            <a:ahLst/>
            <a:cxnLst/>
            <a:rect l="l" t="t" r="r" b="b"/>
            <a:pathLst>
              <a:path w="17365869" h="3549736">
                <a:moveTo>
                  <a:pt x="0" y="0"/>
                </a:moveTo>
                <a:lnTo>
                  <a:pt x="17365870" y="0"/>
                </a:lnTo>
                <a:lnTo>
                  <a:pt x="17365870" y="3549737"/>
                </a:lnTo>
                <a:lnTo>
                  <a:pt x="0" y="3549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088" b="-393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9689" y="1061375"/>
            <a:ext cx="10153449" cy="130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  <a:spcBef>
                <a:spcPct val="0"/>
              </a:spcBef>
            </a:pPr>
            <a:r>
              <a:rPr lang="en-US" sz="4228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Composition API — ref() et reactive()</a:t>
            </a:r>
          </a:p>
          <a:p>
            <a:pPr algn="ctr">
              <a:lnSpc>
                <a:spcPts val="5074"/>
              </a:lnSpc>
              <a:spcBef>
                <a:spcPct val="0"/>
              </a:spcBef>
            </a:pPr>
            <a:endParaRPr lang="en-US" sz="4228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347" y="1673269"/>
            <a:ext cx="13530856" cy="5316687"/>
          </a:xfrm>
          <a:custGeom>
            <a:avLst/>
            <a:gdLst/>
            <a:ahLst/>
            <a:cxnLst/>
            <a:rect l="l" t="t" r="r" b="b"/>
            <a:pathLst>
              <a:path w="13530856" h="5316687">
                <a:moveTo>
                  <a:pt x="0" y="0"/>
                </a:moveTo>
                <a:lnTo>
                  <a:pt x="13530856" y="0"/>
                </a:lnTo>
                <a:lnTo>
                  <a:pt x="13530856" y="5316688"/>
                </a:lnTo>
                <a:lnTo>
                  <a:pt x="0" y="531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995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6200" y="821336"/>
            <a:ext cx="22716847" cy="738298"/>
          </a:xfrm>
          <a:custGeom>
            <a:avLst/>
            <a:gdLst/>
            <a:ahLst/>
            <a:cxnLst/>
            <a:rect l="l" t="t" r="r" b="b"/>
            <a:pathLst>
              <a:path w="22716847" h="738298">
                <a:moveTo>
                  <a:pt x="0" y="0"/>
                </a:moveTo>
                <a:lnTo>
                  <a:pt x="22716847" y="0"/>
                </a:lnTo>
                <a:lnTo>
                  <a:pt x="22716847" y="738298"/>
                </a:lnTo>
                <a:lnTo>
                  <a:pt x="0" y="738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960023"/>
            <a:ext cx="12801074" cy="5029934"/>
          </a:xfrm>
          <a:custGeom>
            <a:avLst/>
            <a:gdLst/>
            <a:ahLst/>
            <a:cxnLst/>
            <a:rect l="l" t="t" r="r" b="b"/>
            <a:pathLst>
              <a:path w="12801074" h="5029934">
                <a:moveTo>
                  <a:pt x="0" y="0"/>
                </a:moveTo>
                <a:lnTo>
                  <a:pt x="12801074" y="0"/>
                </a:lnTo>
                <a:lnTo>
                  <a:pt x="12801074" y="5029934"/>
                </a:lnTo>
                <a:lnTo>
                  <a:pt x="0" y="5029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1772"/>
            </a:stretch>
          </a:blipFill>
        </p:spPr>
      </p:sp>
      <p:sp>
        <p:nvSpPr>
          <p:cNvPr id="5" name="AutoShape 5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7" name="TextBox 7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‹53›</a:t>
            </a:r>
          </a:p>
        </p:txBody>
      </p:sp>
      <p:sp>
        <p:nvSpPr>
          <p:cNvPr id="8" name="AutoShape 8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AutoShape 11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390" y="710628"/>
            <a:ext cx="14794629" cy="1202064"/>
          </a:xfrm>
          <a:custGeom>
            <a:avLst/>
            <a:gdLst/>
            <a:ahLst/>
            <a:cxnLst/>
            <a:rect l="l" t="t" r="r" b="b"/>
            <a:pathLst>
              <a:path w="14794629" h="1202064">
                <a:moveTo>
                  <a:pt x="0" y="0"/>
                </a:moveTo>
                <a:lnTo>
                  <a:pt x="14794629" y="0"/>
                </a:lnTo>
                <a:lnTo>
                  <a:pt x="14794629" y="1202064"/>
                </a:lnTo>
                <a:lnTo>
                  <a:pt x="0" y="1202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6390" y="3603994"/>
            <a:ext cx="10931437" cy="730881"/>
          </a:xfrm>
          <a:custGeom>
            <a:avLst/>
            <a:gdLst/>
            <a:ahLst/>
            <a:cxnLst/>
            <a:rect l="l" t="t" r="r" b="b"/>
            <a:pathLst>
              <a:path w="10931437" h="730881">
                <a:moveTo>
                  <a:pt x="0" y="0"/>
                </a:moveTo>
                <a:lnTo>
                  <a:pt x="10931437" y="0"/>
                </a:lnTo>
                <a:lnTo>
                  <a:pt x="10931437" y="730880"/>
                </a:lnTo>
                <a:lnTo>
                  <a:pt x="0" y="73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0123999" y="3603994"/>
            <a:ext cx="10931437" cy="730881"/>
          </a:xfrm>
          <a:custGeom>
            <a:avLst/>
            <a:gdLst/>
            <a:ahLst/>
            <a:cxnLst/>
            <a:rect l="l" t="t" r="r" b="b"/>
            <a:pathLst>
              <a:path w="10931437" h="730881">
                <a:moveTo>
                  <a:pt x="0" y="0"/>
                </a:moveTo>
                <a:lnTo>
                  <a:pt x="10931437" y="0"/>
                </a:lnTo>
                <a:lnTo>
                  <a:pt x="10931437" y="730880"/>
                </a:lnTo>
                <a:lnTo>
                  <a:pt x="0" y="730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223195" y="4334874"/>
            <a:ext cx="17841610" cy="4585251"/>
          </a:xfrm>
          <a:custGeom>
            <a:avLst/>
            <a:gdLst/>
            <a:ahLst/>
            <a:cxnLst/>
            <a:rect l="l" t="t" r="r" b="b"/>
            <a:pathLst>
              <a:path w="17841610" h="4585251">
                <a:moveTo>
                  <a:pt x="0" y="0"/>
                </a:moveTo>
                <a:lnTo>
                  <a:pt x="17841610" y="0"/>
                </a:lnTo>
                <a:lnTo>
                  <a:pt x="17841610" y="4585251"/>
                </a:lnTo>
                <a:lnTo>
                  <a:pt x="0" y="4585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223" b="-65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446390" y="1884117"/>
            <a:ext cx="1828800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972" lvl="1" indent="-296986" algn="l">
              <a:lnSpc>
                <a:spcPts val="3301"/>
              </a:lnSpc>
              <a:spcBef>
                <a:spcPct val="0"/>
              </a:spcBef>
              <a:buFont typeface="Arial"/>
              <a:buChar char="•"/>
            </a:pP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&lt;script setup&gt;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syntaxe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simplifiée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la Composition API (Vue 3.2+). Tout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qu'on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déclare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automatiquement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exposé au template — pas </a:t>
            </a:r>
            <a:r>
              <a:rPr lang="en-US" sz="2751" u="none" strike="noStrik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besoin</a:t>
            </a:r>
            <a:r>
              <a:rPr lang="en-US" sz="2751" u="none" strike="noStrik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return {}.</a:t>
            </a:r>
          </a:p>
        </p:txBody>
      </p:sp>
      <p:sp>
        <p:nvSpPr>
          <p:cNvPr id="7" name="AutoShape 7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9" name="TextBox 9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‹54›</a:t>
            </a:r>
          </a:p>
        </p:txBody>
      </p:sp>
      <p:sp>
        <p:nvSpPr>
          <p:cNvPr id="10" name="AutoShape 10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" name="AutoShape 13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282" y="1945500"/>
            <a:ext cx="13581018" cy="967253"/>
          </a:xfrm>
          <a:custGeom>
            <a:avLst/>
            <a:gdLst/>
            <a:ahLst/>
            <a:cxnLst/>
            <a:rect l="l" t="t" r="r" b="b"/>
            <a:pathLst>
              <a:path w="13581018" h="967253">
                <a:moveTo>
                  <a:pt x="0" y="0"/>
                </a:moveTo>
                <a:lnTo>
                  <a:pt x="13581019" y="0"/>
                </a:lnTo>
                <a:lnTo>
                  <a:pt x="13581019" y="967253"/>
                </a:lnTo>
                <a:lnTo>
                  <a:pt x="0" y="967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746200" y="2700300"/>
            <a:ext cx="11994364" cy="864770"/>
          </a:xfrm>
          <a:custGeom>
            <a:avLst/>
            <a:gdLst/>
            <a:ahLst/>
            <a:cxnLst/>
            <a:rect l="l" t="t" r="r" b="b"/>
            <a:pathLst>
              <a:path w="11994364" h="864770">
                <a:moveTo>
                  <a:pt x="0" y="0"/>
                </a:moveTo>
                <a:lnTo>
                  <a:pt x="11994364" y="0"/>
                </a:lnTo>
                <a:lnTo>
                  <a:pt x="11994364" y="864770"/>
                </a:lnTo>
                <a:lnTo>
                  <a:pt x="0" y="864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0" r="-167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17132">
            <a:off x="98968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>
            <a:off x="791840" y="430225"/>
            <a:ext cx="7644900" cy="381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AutoShape 9"/>
          <p:cNvSpPr/>
          <p:nvPr/>
        </p:nvSpPr>
        <p:spPr>
          <a:xfrm rot="17132">
            <a:off x="98967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Freeform 10"/>
          <p:cNvSpPr/>
          <p:nvPr/>
        </p:nvSpPr>
        <p:spPr>
          <a:xfrm>
            <a:off x="469282" y="3565070"/>
            <a:ext cx="12526594" cy="892156"/>
          </a:xfrm>
          <a:custGeom>
            <a:avLst/>
            <a:gdLst/>
            <a:ahLst/>
            <a:cxnLst/>
            <a:rect l="l" t="t" r="r" b="b"/>
            <a:pathLst>
              <a:path w="12526594" h="892156">
                <a:moveTo>
                  <a:pt x="0" y="0"/>
                </a:moveTo>
                <a:lnTo>
                  <a:pt x="12526595" y="0"/>
                </a:lnTo>
                <a:lnTo>
                  <a:pt x="12526595" y="892156"/>
                </a:lnTo>
                <a:lnTo>
                  <a:pt x="0" y="892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512007" y="4609626"/>
            <a:ext cx="12228557" cy="853155"/>
          </a:xfrm>
          <a:custGeom>
            <a:avLst/>
            <a:gdLst/>
            <a:ahLst/>
            <a:cxnLst/>
            <a:rect l="l" t="t" r="r" b="b"/>
            <a:pathLst>
              <a:path w="12228557" h="853155">
                <a:moveTo>
                  <a:pt x="0" y="0"/>
                </a:moveTo>
                <a:lnTo>
                  <a:pt x="12228557" y="0"/>
                </a:lnTo>
                <a:lnTo>
                  <a:pt x="12228557" y="853155"/>
                </a:lnTo>
                <a:lnTo>
                  <a:pt x="0" y="853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791840" y="1365831"/>
            <a:ext cx="507556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5"/>
              </a:lnSpc>
              <a:spcBef>
                <a:spcPct val="0"/>
              </a:spcBef>
            </a:pPr>
            <a:r>
              <a:rPr lang="en-US" sz="2696" dirty="0" err="1">
                <a:solidFill>
                  <a:srgbClr val="33A158"/>
                </a:solidFill>
                <a:latin typeface="Arimo"/>
                <a:ea typeface="Arimo"/>
                <a:cs typeface="Arimo"/>
                <a:sym typeface="Arimo"/>
              </a:rPr>
              <a:t>Avantages</a:t>
            </a:r>
            <a:r>
              <a:rPr lang="en-US" sz="2696" dirty="0">
                <a:solidFill>
                  <a:srgbClr val="33A158"/>
                </a:solidFill>
                <a:latin typeface="Arimo"/>
                <a:ea typeface="Arimo"/>
                <a:cs typeface="Arimo"/>
                <a:sym typeface="Arimo"/>
              </a:rPr>
              <a:t> de &lt;script setup&gt;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‹55›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132">
            <a:off x="746153" y="66960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885550" y="420700"/>
            <a:ext cx="516900" cy="516900"/>
            <a:chOff x="0" y="0"/>
            <a:chExt cx="689200" cy="68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102" cy="689229"/>
            </a:xfrm>
            <a:custGeom>
              <a:avLst/>
              <a:gdLst/>
              <a:ahLst/>
              <a:cxnLst/>
              <a:rect l="l" t="t" r="r" b="b"/>
              <a:pathLst>
                <a:path w="689102" h="689229">
                  <a:moveTo>
                    <a:pt x="18415" y="320167"/>
                  </a:moveTo>
                  <a:lnTo>
                    <a:pt x="266573" y="249174"/>
                  </a:lnTo>
                  <a:lnTo>
                    <a:pt x="273558" y="273558"/>
                  </a:lnTo>
                  <a:lnTo>
                    <a:pt x="249174" y="266573"/>
                  </a:lnTo>
                  <a:lnTo>
                    <a:pt x="320167" y="18415"/>
                  </a:lnTo>
                  <a:cubicBezTo>
                    <a:pt x="323342" y="7493"/>
                    <a:pt x="333248" y="0"/>
                    <a:pt x="344551" y="0"/>
                  </a:cubicBezTo>
                  <a:cubicBezTo>
                    <a:pt x="355854" y="0"/>
                    <a:pt x="365887" y="7493"/>
                    <a:pt x="368935" y="18415"/>
                  </a:cubicBezTo>
                  <a:lnTo>
                    <a:pt x="439928" y="266573"/>
                  </a:lnTo>
                  <a:lnTo>
                    <a:pt x="415544" y="273558"/>
                  </a:lnTo>
                  <a:lnTo>
                    <a:pt x="422529" y="249174"/>
                  </a:lnTo>
                  <a:lnTo>
                    <a:pt x="670687" y="320167"/>
                  </a:lnTo>
                  <a:cubicBezTo>
                    <a:pt x="681609" y="323342"/>
                    <a:pt x="689102" y="333248"/>
                    <a:pt x="689102" y="344551"/>
                  </a:cubicBezTo>
                  <a:cubicBezTo>
                    <a:pt x="689102" y="355854"/>
                    <a:pt x="681609" y="365887"/>
                    <a:pt x="670687" y="368935"/>
                  </a:cubicBezTo>
                  <a:lnTo>
                    <a:pt x="422529" y="440055"/>
                  </a:lnTo>
                  <a:lnTo>
                    <a:pt x="415544" y="415671"/>
                  </a:lnTo>
                  <a:lnTo>
                    <a:pt x="439928" y="422656"/>
                  </a:lnTo>
                  <a:lnTo>
                    <a:pt x="368935" y="670814"/>
                  </a:lnTo>
                  <a:cubicBezTo>
                    <a:pt x="365760" y="681736"/>
                    <a:pt x="355854" y="689229"/>
                    <a:pt x="344551" y="689229"/>
                  </a:cubicBezTo>
                  <a:cubicBezTo>
                    <a:pt x="333248" y="689229"/>
                    <a:pt x="323215" y="681736"/>
                    <a:pt x="320167" y="670814"/>
                  </a:cubicBezTo>
                  <a:lnTo>
                    <a:pt x="249174" y="422529"/>
                  </a:lnTo>
                  <a:lnTo>
                    <a:pt x="273558" y="415544"/>
                  </a:lnTo>
                  <a:lnTo>
                    <a:pt x="266573" y="439928"/>
                  </a:lnTo>
                  <a:lnTo>
                    <a:pt x="18415" y="369062"/>
                  </a:lnTo>
                  <a:cubicBezTo>
                    <a:pt x="7493" y="365887"/>
                    <a:pt x="0" y="355981"/>
                    <a:pt x="0" y="344551"/>
                  </a:cubicBezTo>
                  <a:cubicBezTo>
                    <a:pt x="0" y="333121"/>
                    <a:pt x="7493" y="323215"/>
                    <a:pt x="18415" y="320167"/>
                  </a:cubicBezTo>
                  <a:moveTo>
                    <a:pt x="32385" y="369062"/>
                  </a:moveTo>
                  <a:lnTo>
                    <a:pt x="25400" y="344551"/>
                  </a:lnTo>
                  <a:lnTo>
                    <a:pt x="32385" y="320167"/>
                  </a:lnTo>
                  <a:lnTo>
                    <a:pt x="280543" y="391160"/>
                  </a:lnTo>
                  <a:cubicBezTo>
                    <a:pt x="288925" y="393573"/>
                    <a:pt x="295529" y="400177"/>
                    <a:pt x="297942" y="408559"/>
                  </a:cubicBezTo>
                  <a:lnTo>
                    <a:pt x="368935" y="656717"/>
                  </a:lnTo>
                  <a:lnTo>
                    <a:pt x="344551" y="663702"/>
                  </a:lnTo>
                  <a:lnTo>
                    <a:pt x="320167" y="656717"/>
                  </a:lnTo>
                  <a:lnTo>
                    <a:pt x="391160" y="408559"/>
                  </a:lnTo>
                  <a:cubicBezTo>
                    <a:pt x="393573" y="400177"/>
                    <a:pt x="400177" y="393573"/>
                    <a:pt x="408559" y="391160"/>
                  </a:cubicBezTo>
                  <a:lnTo>
                    <a:pt x="656717" y="320167"/>
                  </a:lnTo>
                  <a:lnTo>
                    <a:pt x="663702" y="344551"/>
                  </a:lnTo>
                  <a:lnTo>
                    <a:pt x="656717" y="368935"/>
                  </a:lnTo>
                  <a:lnTo>
                    <a:pt x="408559" y="297942"/>
                  </a:lnTo>
                  <a:cubicBezTo>
                    <a:pt x="400177" y="295529"/>
                    <a:pt x="393573" y="288925"/>
                    <a:pt x="391160" y="280543"/>
                  </a:cubicBezTo>
                  <a:lnTo>
                    <a:pt x="320167" y="32385"/>
                  </a:lnTo>
                  <a:lnTo>
                    <a:pt x="344551" y="25400"/>
                  </a:lnTo>
                  <a:lnTo>
                    <a:pt x="368935" y="32385"/>
                  </a:lnTo>
                  <a:lnTo>
                    <a:pt x="297942" y="280543"/>
                  </a:lnTo>
                  <a:cubicBezTo>
                    <a:pt x="295529" y="288925"/>
                    <a:pt x="288925" y="295529"/>
                    <a:pt x="280543" y="297942"/>
                  </a:cubicBezTo>
                  <a:lnTo>
                    <a:pt x="32385" y="3690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AutoShape 5"/>
          <p:cNvSpPr/>
          <p:nvPr/>
        </p:nvSpPr>
        <p:spPr>
          <a:xfrm flipV="1">
            <a:off x="9896803" y="698176"/>
            <a:ext cx="7644947" cy="952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rot="17132">
            <a:off x="746203" y="9588151"/>
            <a:ext cx="764499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9896850" y="9578626"/>
            <a:ext cx="764490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Freeform 8"/>
          <p:cNvSpPr/>
          <p:nvPr/>
        </p:nvSpPr>
        <p:spPr>
          <a:xfrm>
            <a:off x="3493371" y="5129373"/>
            <a:ext cx="11301259" cy="28253"/>
          </a:xfrm>
          <a:custGeom>
            <a:avLst/>
            <a:gdLst/>
            <a:ahLst/>
            <a:cxnLst/>
            <a:rect l="l" t="t" r="r" b="b"/>
            <a:pathLst>
              <a:path w="11301259" h="28253">
                <a:moveTo>
                  <a:pt x="0" y="0"/>
                </a:moveTo>
                <a:lnTo>
                  <a:pt x="11301258" y="0"/>
                </a:lnTo>
                <a:lnTo>
                  <a:pt x="11301258" y="28254"/>
                </a:lnTo>
                <a:lnTo>
                  <a:pt x="0" y="28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686725" y="9278125"/>
            <a:ext cx="914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‹56›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850437"/>
            <a:ext cx="17771100" cy="413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3"/>
              </a:lnSpc>
              <a:spcBef>
                <a:spcPct val="0"/>
              </a:spcBef>
            </a:pPr>
            <a:r>
              <a:rPr lang="en-US" sz="134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Merci pour votre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2981</Words>
  <Application>Microsoft Office PowerPoint</Application>
  <PresentationFormat>Personnalisé</PresentationFormat>
  <Paragraphs>573</Paragraphs>
  <Slides>56</Slides>
  <Notes>48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5" baseType="lpstr">
      <vt:lpstr>Calibri</vt:lpstr>
      <vt:lpstr>Arial MT Pro</vt:lpstr>
      <vt:lpstr>Arimo</vt:lpstr>
      <vt:lpstr>Quicksand Bold</vt:lpstr>
      <vt:lpstr>Arial</vt:lpstr>
      <vt:lpstr>Arimo Bold</vt:lpstr>
      <vt:lpstr>Glacial Indifference</vt:lpstr>
      <vt:lpstr>Office Theme</vt:lpstr>
      <vt:lpstr>Worksheet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Elegant Bachelor Thesis _ by Slidesgo.pptx</dc:title>
  <dc:creator>pc</dc:creator>
  <cp:lastModifiedBy>Hasnae</cp:lastModifiedBy>
  <cp:revision>8</cp:revision>
  <dcterms:created xsi:type="dcterms:W3CDTF">2006-08-16T00:00:00Z</dcterms:created>
  <dcterms:modified xsi:type="dcterms:W3CDTF">2026-05-03T20:18:28Z</dcterms:modified>
  <dc:identifier>DAHHYy4wEMU</dc:identifier>
</cp:coreProperties>
</file>